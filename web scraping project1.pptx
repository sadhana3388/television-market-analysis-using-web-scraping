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60" r:id="rId7"/>
    <p:sldId id="261" r:id="rId8"/>
    <p:sldId id="284" r:id="rId9"/>
    <p:sldId id="286" r:id="rId10"/>
    <p:sldId id="262" r:id="rId11"/>
    <p:sldId id="280" r:id="rId12"/>
    <p:sldId id="287" r:id="rId13"/>
    <p:sldId id="288" r:id="rId14"/>
    <p:sldId id="289" r:id="rId15"/>
    <p:sldId id="290" r:id="rId16"/>
    <p:sldId id="292" r:id="rId17"/>
    <p:sldId id="293" r:id="rId18"/>
    <p:sldId id="295" r:id="rId19"/>
    <p:sldId id="294" r:id="rId20"/>
    <p:sldId id="296" r:id="rId21"/>
    <p:sldId id="281" r:id="rId22"/>
    <p:sldId id="269" r:id="rId23"/>
    <p:sldId id="268" r:id="rId24"/>
    <p:sldId id="259" r:id="rId25"/>
  </p:sldIdLst>
  <p:sldSz cx="12192000" cy="6858000"/>
  <p:notesSz cx="6858000" cy="9144000"/>
  <p:embeddedFontLst>
    <p:embeddedFont>
      <p:font typeface="Calibri" panose="020F0502020204030204"/>
      <p:regular r:id="rId29"/>
      <p:bold r:id="rId30"/>
      <p:italic r:id="rId31"/>
      <p:boldItalic r:id="rId32"/>
    </p:embeddedFont>
    <p:embeddedFont>
      <p:font typeface="Lato Black" panose="020F0502020204030203"/>
      <p:bold r:id="rId33"/>
    </p:embeddedFont>
    <p:embeddedFont>
      <p:font typeface="Libre Baskerville" panose="0200000000000000000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font" Target="fonts/font9.fntdata"/><Relationship Id="rId36" Type="http://schemas.openxmlformats.org/officeDocument/2006/relationships/font" Target="fonts/font8.fntdata"/><Relationship Id="rId35" Type="http://schemas.openxmlformats.org/officeDocument/2006/relationships/font" Target="fonts/font7.fntdata"/><Relationship Id="rId34" Type="http://schemas.openxmlformats.org/officeDocument/2006/relationships/font" Target="fonts/font6.fntdata"/><Relationship Id="rId33" Type="http://schemas.openxmlformats.org/officeDocument/2006/relationships/font" Target="fonts/font5.fntdata"/><Relationship Id="rId32" Type="http://schemas.openxmlformats.org/officeDocument/2006/relationships/font" Target="fonts/font4.fntdata"/><Relationship Id="rId31" Type="http://schemas.openxmlformats.org/officeDocument/2006/relationships/font" Target="fonts/font3.fntdata"/><Relationship Id="rId30" Type="http://schemas.openxmlformats.org/officeDocument/2006/relationships/font" Target="fonts/font2.fntdata"/><Relationship Id="rId3" Type="http://schemas.openxmlformats.org/officeDocument/2006/relationships/slide" Target="slides/slide1.xml"/><Relationship Id="rId29" Type="http://schemas.openxmlformats.org/officeDocument/2006/relationships/font" Target="fonts/font1.fntdata"/><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3"/>
          </p:nvPr>
        </p:nvSpPr>
        <p:spPr/>
      </p:sp>
      <p:sp>
        <p:nvSpPr>
          <p:cNvPr id="3" name="Text Placeholder 2"/>
          <p:cNvSpPr>
            <a:spLocks noGrp="1"/>
          </p:cNvSpPr>
          <p:nvPr>
            <p:ph type="body" idx="1"/>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5" name="Google Shape;25;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2" name="Google Shape;32;p10"/>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9" name="Google Shape;39;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54" name="Google Shape;54;p12"/>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64" name="Google Shape;64;p13"/>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1"/>
          <a:srcRect/>
          <a:stretch>
            <a:fillRect/>
          </a:stretch>
        </p:blipFill>
        <p:spPr>
          <a:xfrm>
            <a:off x="-83" y="85089"/>
            <a:ext cx="12190815" cy="6787299"/>
          </a:xfrm>
          <a:prstGeom prst="rect">
            <a:avLst/>
          </a:prstGeom>
          <a:noFill/>
          <a:ln>
            <a:noFill/>
          </a:ln>
        </p:spPr>
      </p:pic>
      <p:sp>
        <p:nvSpPr>
          <p:cNvPr id="99" name="Google Shape;99;p1"/>
          <p:cNvSpPr txBox="1"/>
          <p:nvPr/>
        </p:nvSpPr>
        <p:spPr>
          <a:xfrm>
            <a:off x="2946400" y="3639185"/>
            <a:ext cx="6120130" cy="9518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altLang="en-IN" sz="28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TELEVISION MARKET ANALYSIS USING WEB SCRAPING</a:t>
            </a:r>
            <a:endParaRPr lang="en-US" altLang="en-IN" sz="2800" b="1"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3" name="TextBox 2"/>
          <p:cNvSpPr txBox="1"/>
          <p:nvPr/>
        </p:nvSpPr>
        <p:spPr>
          <a:xfrm>
            <a:off x="8625526" y="5263577"/>
            <a:ext cx="2903456" cy="829945"/>
          </a:xfrm>
          <a:prstGeom prst="rect">
            <a:avLst/>
          </a:prstGeom>
          <a:noFill/>
        </p:spPr>
        <p:txBody>
          <a:bodyPr wrap="square" rtlCol="0">
            <a:spAutoFit/>
          </a:bodyPr>
          <a:lstStyle/>
          <a:p>
            <a:r>
              <a:rPr lang="en-US" sz="1600" b="1" dirty="0">
                <a:solidFill>
                  <a:srgbClr val="FF0000"/>
                </a:solidFill>
                <a:latin typeface="Times New Roman" panose="02020603050405020304" pitchFamily="18" charset="0"/>
                <a:cs typeface="Times New Roman" panose="02020603050405020304" pitchFamily="18" charset="0"/>
              </a:rPr>
              <a:t>Presented By </a:t>
            </a:r>
            <a:r>
              <a:rPr lang="en-US" b="1" dirty="0">
                <a:solidFill>
                  <a:srgbClr val="FF0000"/>
                </a:solidFill>
              </a:rPr>
              <a:t>:</a:t>
            </a:r>
            <a:r>
              <a:rPr lang="en-US" dirty="0">
                <a:solidFill>
                  <a:srgbClr val="FF0000"/>
                </a:solidFill>
              </a:rPr>
              <a:t> </a:t>
            </a:r>
            <a:r>
              <a:rPr lang="en-US" dirty="0">
                <a:solidFill>
                  <a:schemeClr val="tx1"/>
                </a:solidFill>
                <a:latin typeface="Times New Roman" panose="02020603050405020304" pitchFamily="18" charset="0"/>
                <a:cs typeface="Times New Roman" panose="02020603050405020304" pitchFamily="18" charset="0"/>
              </a:rPr>
              <a:t>Sadhana Bommi</a:t>
            </a:r>
            <a:r>
              <a:rPr lang="en-US" dirty="0">
                <a:solidFill>
                  <a:schemeClr val="tx1"/>
                </a:solidFill>
              </a:rPr>
              <a:t>    </a:t>
            </a:r>
            <a:r>
              <a:rPr lang="en-US" sz="1600" b="1" dirty="0">
                <a:solidFill>
                  <a:srgbClr val="FF0000"/>
                </a:solidFill>
                <a:latin typeface="Times New Roman" panose="02020603050405020304" pitchFamily="18" charset="0"/>
                <a:cs typeface="Times New Roman" panose="02020603050405020304" pitchFamily="18" charset="0"/>
              </a:rPr>
              <a:t>Batch No :  </a:t>
            </a:r>
            <a:r>
              <a:rPr lang="en-US" sz="1600" dirty="0">
                <a:solidFill>
                  <a:schemeClr val="tx1"/>
                </a:solidFill>
                <a:latin typeface="Times New Roman" panose="02020603050405020304" pitchFamily="18" charset="0"/>
                <a:cs typeface="Times New Roman" panose="02020603050405020304" pitchFamily="18" charset="0"/>
              </a:rPr>
              <a:t>546 </a:t>
            </a:r>
            <a:endParaRPr lang="en-US" sz="1600" dirty="0">
              <a:solidFill>
                <a:schemeClr val="tx1"/>
              </a:solidFill>
              <a:latin typeface="Times New Roman" panose="02020603050405020304" pitchFamily="18" charset="0"/>
              <a:cs typeface="Times New Roman" panose="02020603050405020304" pitchFamily="18" charset="0"/>
            </a:endParaRPr>
          </a:p>
          <a:p>
            <a:r>
              <a:rPr lang="en-US" sz="1600" b="1" dirty="0">
                <a:solidFill>
                  <a:srgbClr val="FF0000"/>
                </a:solidFill>
                <a:latin typeface="Times New Roman" panose="02020603050405020304" pitchFamily="18" charset="0"/>
                <a:cs typeface="Times New Roman" panose="02020603050405020304" pitchFamily="18" charset="0"/>
              </a:rPr>
              <a:t>Branch :  </a:t>
            </a:r>
            <a:r>
              <a:rPr lang="en-US" sz="1600" dirty="0" err="1">
                <a:solidFill>
                  <a:schemeClr val="tx1"/>
                </a:solidFill>
                <a:latin typeface="Times New Roman" panose="02020603050405020304" pitchFamily="18" charset="0"/>
                <a:cs typeface="Times New Roman" panose="02020603050405020304" pitchFamily="18" charset="0"/>
              </a:rPr>
              <a:t>Dilsuknagar</a:t>
            </a:r>
            <a:endParaRPr lang="en-IN"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23934" y="1190921"/>
            <a:ext cx="10744036" cy="4152900"/>
          </a:xfrm>
          <a:prstGeom prst="rect">
            <a:avLst/>
          </a:prstGeom>
          <a:noFill/>
          <a:ln>
            <a:noFill/>
          </a:ln>
        </p:spPr>
        <p:txBody>
          <a:bodyPr spcFirstLastPara="1" wrap="square" lIns="91425" tIns="45700" rIns="91425" bIns="45700" anchor="t" anchorCtr="0">
            <a:spAutoFit/>
          </a:bodyPr>
          <a:lstStyle/>
          <a:p>
            <a:pPr marL="0" lvl="0" indent="0">
              <a:buClr>
                <a:schemeClr val="dk1"/>
              </a:buClr>
              <a:buSzPts val="2400"/>
              <a:buFont typeface="Arial" panose="020B0604020202020204"/>
              <a:buNone/>
            </a:pPr>
            <a:endParaRPr lang="en-US" altLang="en-US" sz="24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a:p>
            <a:pPr marL="285750" lvl="0" indent="-323850" algn="just">
              <a:buClr>
                <a:schemeClr val="dk1"/>
              </a:buClr>
              <a:buSzPts val="2400"/>
              <a:buFont typeface="Arial" panose="020B0604020202020204"/>
              <a:buChar char="•"/>
            </a:pPr>
            <a:r>
              <a:rPr lang="en-US" altLang="en-US" sz="240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I have completed my B.Tech in Electrical and Electronics Engineering (EEE) from Annamacharya University.</a:t>
            </a:r>
            <a:endParaRPr lang="en-US" altLang="en-US" sz="240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285750" lvl="0" indent="-323850" algn="just">
              <a:buClr>
                <a:schemeClr val="dk1"/>
              </a:buClr>
              <a:buSzPts val="2400"/>
              <a:buFont typeface="Arial" panose="020B0604020202020204"/>
              <a:buChar char="•"/>
            </a:pPr>
            <a:endParaRPr lang="en-US" altLang="en-US" sz="240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285750" lvl="0" indent="-323850" algn="just">
              <a:buClr>
                <a:schemeClr val="dk1"/>
              </a:buClr>
              <a:buSzPts val="2400"/>
              <a:buFont typeface="Arial" panose="020B0604020202020204"/>
              <a:buChar char="•"/>
            </a:pPr>
            <a:r>
              <a:rPr lang="en-US" altLang="en-US" sz="240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I chose Data Analytics because I </a:t>
            </a:r>
            <a:r>
              <a:rPr lang="en-IN" altLang="en-US" sz="240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am interested in</a:t>
            </a:r>
            <a:r>
              <a:rPr lang="en-US" altLang="en-US" sz="240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 working with data and understanding what it tells us</a:t>
            </a:r>
            <a:r>
              <a:rPr lang="en-IN" altLang="en-US" sz="240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 and </a:t>
            </a:r>
            <a:r>
              <a:rPr lang="en-US" altLang="en-US" sz="240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I want to improve my analytical and problem-solving skills, so I felt Data Analytics would be a good field for me.</a:t>
            </a:r>
            <a:endParaRPr lang="en-US" altLang="en-US" sz="240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285750" lvl="0" indent="-323850" algn="just">
              <a:buClr>
                <a:schemeClr val="dk1"/>
              </a:buClr>
              <a:buSzPts val="2400"/>
              <a:buFont typeface="Arial" panose="020B0604020202020204"/>
              <a:buChar char="•"/>
            </a:pPr>
            <a:endParaRPr lang="en-US" altLang="en-US" sz="240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285750" lvl="0" indent="-323850" algn="just">
              <a:buClr>
                <a:schemeClr val="dk1"/>
              </a:buClr>
              <a:buSzPts val="2400"/>
              <a:buFont typeface="Arial" panose="020B0604020202020204"/>
              <a:buChar char="•"/>
            </a:pPr>
            <a:r>
              <a:rPr lang="en-US" altLang="en-US" sz="2400" b="1"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LinkedIn</a:t>
            </a:r>
            <a:r>
              <a:rPr lang="en-US" altLang="en-US" sz="240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 https://www.linkedin.com/in/bommi-sadhana-541023313/</a:t>
            </a:r>
            <a:endParaRPr lang="en-US" altLang="en-US" sz="240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285750" lvl="0" indent="-323850" algn="just">
              <a:buClr>
                <a:schemeClr val="dk1"/>
              </a:buClr>
              <a:buSzPts val="2400"/>
              <a:buFont typeface="Arial" panose="020B0604020202020204"/>
              <a:buChar char="•"/>
            </a:pPr>
            <a:r>
              <a:rPr lang="en-US" altLang="en-US" sz="2400" b="1"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GitHub</a:t>
            </a:r>
            <a:r>
              <a:rPr lang="en-US" altLang="en-US" sz="240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  https://github.com/Sadhana3388</a:t>
            </a:r>
            <a:endParaRPr lang="en-US" altLang="en-US" sz="240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285750" lvl="0" indent="-323850" algn="just">
              <a:buClr>
                <a:schemeClr val="dk1"/>
              </a:buClr>
              <a:buSzPts val="2400"/>
              <a:buFont typeface="Arial" panose="020B0604020202020204"/>
              <a:buChar char="•"/>
            </a:pPr>
            <a:endParaRPr lang="en-US" altLang="en-US" sz="240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05" name="Google Shape;105;p3"/>
          <p:cNvSpPr txBox="1"/>
          <p:nvPr/>
        </p:nvSpPr>
        <p:spPr>
          <a:xfrm>
            <a:off x="493643" y="520249"/>
            <a:ext cx="6099600" cy="535491"/>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panose="020F0502020204030203"/>
              <a:buNone/>
            </a:pPr>
            <a:r>
              <a:rPr lang="en-IN" sz="3200" b="0" i="0" u="none" strike="noStrike" cap="none" dirty="0">
                <a:solidFill>
                  <a:schemeClr val="accent5"/>
                </a:solidFill>
                <a:latin typeface="Lato Black" panose="020F0502020204030203"/>
                <a:ea typeface="Lato Black" panose="020F0502020204030203"/>
                <a:cs typeface="Lato Black" panose="020F0502020204030203"/>
                <a:sym typeface="Lato Black" panose="020F0502020204030203"/>
              </a:rPr>
              <a:t>  </a:t>
            </a:r>
            <a:r>
              <a:rPr lang="en-IN" sz="3600" b="1" i="0" u="none" strike="noStrike" cap="none" dirty="0">
                <a:solidFill>
                  <a:schemeClr val="accent5"/>
                </a:solidFill>
                <a:latin typeface="Times New Roman" panose="02020603050405020304" pitchFamily="18" charset="0"/>
                <a:ea typeface="Lato Black" panose="020F0502020204030203"/>
                <a:cs typeface="Times New Roman" panose="02020603050405020304" pitchFamily="18" charset="0"/>
                <a:sym typeface="Lato Black" panose="020F0502020204030203"/>
              </a:rPr>
              <a:t>About Me :</a:t>
            </a:r>
            <a:endParaRPr lang="en-IN" sz="3600" b="1" i="0" u="none" strike="noStrike" cap="none" dirty="0">
              <a:solidFill>
                <a:schemeClr val="accent5"/>
              </a:solidFill>
              <a:latin typeface="Times New Roman" panose="02020603050405020304" pitchFamily="18" charset="0"/>
              <a:ea typeface="Lato Black" panose="020F0502020204030203"/>
              <a:cs typeface="Times New Roman" panose="02020603050405020304" pitchFamily="18" charset="0"/>
              <a:sym typeface="Lato Black" panose="020F0502020204030203"/>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400050" y="215265"/>
            <a:ext cx="10515600" cy="813435"/>
          </a:xfrm>
          <a:prstGeom prst="rect">
            <a:avLst/>
          </a:prstGeom>
          <a:noFill/>
          <a:ln>
            <a:noFill/>
          </a:ln>
        </p:spPr>
        <p:txBody>
          <a:bodyPr spcFirstLastPara="1" wrap="square" lIns="91425" tIns="45700" rIns="91425" bIns="45700" anchor="ctr" anchorCtr="0">
            <a:normAutofit/>
          </a:bodyPr>
          <a:lstStyle/>
          <a:p>
            <a:pPr lvl="0">
              <a:buClr>
                <a:srgbClr val="FF0000"/>
              </a:buClr>
              <a:buSzPts val="4400"/>
            </a:pPr>
            <a:r>
              <a:rPr lang="en-US" b="1" dirty="0">
                <a:solidFill>
                  <a:srgbClr val="FF0000"/>
                </a:solidFill>
              </a:rPr>
              <a:t>  </a:t>
            </a:r>
            <a:r>
              <a:rPr lang="en-IN" altLang="en-US" sz="3600" b="1" dirty="0">
                <a:solidFill>
                  <a:schemeClr val="accent5"/>
                </a:solidFill>
              </a:rPr>
              <a:t>Agenda </a:t>
            </a:r>
            <a:r>
              <a:rPr lang="en-IN" b="1" dirty="0"/>
              <a:t>:</a:t>
            </a:r>
            <a:endParaRPr b="1" dirty="0">
              <a:solidFill>
                <a:srgbClr val="FF0000"/>
              </a:solidFill>
            </a:endParaRPr>
          </a:p>
        </p:txBody>
      </p:sp>
      <p:sp>
        <p:nvSpPr>
          <p:cNvPr id="111" name="Google Shape;111;p4"/>
          <p:cNvSpPr txBox="1">
            <a:spLocks noGrp="1"/>
          </p:cNvSpPr>
          <p:nvPr>
            <p:ph type="body" idx="1"/>
          </p:nvPr>
        </p:nvSpPr>
        <p:spPr>
          <a:xfrm>
            <a:off x="470535" y="1107440"/>
            <a:ext cx="10516235" cy="4830445"/>
          </a:xfrm>
          <a:prstGeom prst="rect">
            <a:avLst/>
          </a:prstGeom>
          <a:noFill/>
          <a:ln>
            <a:noFill/>
          </a:ln>
        </p:spPr>
        <p:txBody>
          <a:bodyPr spcFirstLastPara="1" wrap="square" lIns="91425" tIns="45700" rIns="91425" bIns="45700" anchor="t" anchorCtr="0">
            <a:normAutofit lnSpcReduction="20000"/>
          </a:bodyPr>
          <a:lstStyle/>
          <a:p>
            <a:pPr marL="25400" lvl="0" indent="0">
              <a:buSzPts val="2400"/>
              <a:buNone/>
            </a:pPr>
            <a:r>
              <a:rPr lang="en-IN" sz="3200" dirty="0"/>
              <a:t>✓</a:t>
            </a:r>
            <a:r>
              <a:rPr lang="en-IN" dirty="0">
                <a:latin typeface="Times New Roman" panose="02020603050405020304" pitchFamily="18" charset="0"/>
                <a:cs typeface="Times New Roman" panose="02020603050405020304" pitchFamily="18" charset="0"/>
              </a:rPr>
              <a:t>Business Problem </a:t>
            </a:r>
            <a:endParaRPr lang="en-IN" dirty="0">
              <a:latin typeface="Times New Roman" panose="02020603050405020304" pitchFamily="18" charset="0"/>
              <a:cs typeface="Times New Roman" panose="02020603050405020304" pitchFamily="18" charset="0"/>
            </a:endParaRPr>
          </a:p>
          <a:p>
            <a:pPr marL="25400" lvl="0" indent="0">
              <a:buSzPts val="2400"/>
              <a:buNone/>
            </a:pPr>
            <a:r>
              <a:rPr lang="en-IN" dirty="0">
                <a:latin typeface="Times New Roman" panose="02020603050405020304" pitchFamily="18" charset="0"/>
                <a:cs typeface="Times New Roman" panose="02020603050405020304" pitchFamily="18" charset="0"/>
              </a:rPr>
              <a:t>✓</a:t>
            </a:r>
            <a:r>
              <a:rPr lang="en-US" altLang="en-IN"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Project Objectives</a:t>
            </a:r>
            <a:endParaRPr lang="en-US" altLang="en-US" dirty="0">
              <a:latin typeface="Times New Roman" panose="02020603050405020304" pitchFamily="18" charset="0"/>
              <a:cs typeface="Times New Roman" panose="02020603050405020304" pitchFamily="18" charset="0"/>
            </a:endParaRPr>
          </a:p>
          <a:p>
            <a:pPr marL="25400" lvl="0" indent="0">
              <a:buSzPts val="2400"/>
              <a:buNone/>
            </a:pPr>
            <a:r>
              <a:rPr lang="en-IN" dirty="0">
                <a:latin typeface="Times New Roman" panose="02020603050405020304" pitchFamily="18" charset="0"/>
                <a:cs typeface="Times New Roman" panose="02020603050405020304" pitchFamily="18" charset="0"/>
                <a:sym typeface="+mn-ea"/>
              </a:rPr>
              <a:t>✓</a:t>
            </a:r>
            <a:r>
              <a:rPr lang="en-US" altLang="en-IN" dirty="0">
                <a:latin typeface="Times New Roman" panose="02020603050405020304" pitchFamily="18" charset="0"/>
                <a:cs typeface="Times New Roman" panose="02020603050405020304" pitchFamily="18" charset="0"/>
                <a:sym typeface="+mn-ea"/>
              </a:rPr>
              <a:t> Introduction</a:t>
            </a:r>
            <a:endParaRPr lang="en-US" altLang="en-IN" dirty="0">
              <a:latin typeface="Times New Roman" panose="02020603050405020304" pitchFamily="18" charset="0"/>
              <a:cs typeface="Times New Roman" panose="02020603050405020304" pitchFamily="18" charset="0"/>
              <a:sym typeface="+mn-ea"/>
            </a:endParaRPr>
          </a:p>
          <a:p>
            <a:pPr marL="25400" lvl="0" indent="0">
              <a:buSzPts val="2400"/>
              <a:buNone/>
            </a:pPr>
            <a:r>
              <a:rPr lang="en-IN" dirty="0">
                <a:latin typeface="Times New Roman" panose="02020603050405020304" pitchFamily="18" charset="0"/>
                <a:cs typeface="Times New Roman" panose="02020603050405020304" pitchFamily="18" charset="0"/>
                <a:sym typeface="+mn-ea"/>
              </a:rPr>
              <a:t>✓</a:t>
            </a:r>
            <a:r>
              <a:rPr lang="en-US" altLang="en-IN" dirty="0">
                <a:latin typeface="Times New Roman" panose="02020603050405020304" pitchFamily="18" charset="0"/>
                <a:cs typeface="Times New Roman" panose="02020603050405020304" pitchFamily="18" charset="0"/>
                <a:sym typeface="+mn-ea"/>
              </a:rPr>
              <a:t> </a:t>
            </a:r>
            <a:r>
              <a:rPr lang="en-US" altLang="en-US" dirty="0">
                <a:latin typeface="Times New Roman" panose="02020603050405020304" pitchFamily="18" charset="0"/>
                <a:cs typeface="Times New Roman" panose="02020603050405020304" pitchFamily="18" charset="0"/>
                <a:sym typeface="+mn-ea"/>
              </a:rPr>
              <a:t>Tools and Technologies</a:t>
            </a:r>
            <a:endParaRPr lang="en-US" altLang="en-US" dirty="0">
              <a:latin typeface="Times New Roman" panose="02020603050405020304" pitchFamily="18" charset="0"/>
              <a:cs typeface="Times New Roman" panose="02020603050405020304" pitchFamily="18" charset="0"/>
              <a:sym typeface="+mn-ea"/>
            </a:endParaRPr>
          </a:p>
          <a:p>
            <a:pPr marL="25400" lvl="0" indent="0">
              <a:buSzPts val="2400"/>
              <a:buNone/>
            </a:pPr>
            <a:r>
              <a:rPr lang="en-IN" dirty="0">
                <a:latin typeface="Times New Roman" panose="02020603050405020304" pitchFamily="18" charset="0"/>
                <a:cs typeface="Times New Roman" panose="02020603050405020304" pitchFamily="18" charset="0"/>
              </a:rPr>
              <a:t>✓ Data </a:t>
            </a:r>
            <a:r>
              <a:rPr lang="en-US" altLang="en-US" dirty="0">
                <a:latin typeface="Times New Roman" panose="02020603050405020304" pitchFamily="18" charset="0"/>
                <a:cs typeface="Times New Roman" panose="02020603050405020304" pitchFamily="18" charset="0"/>
              </a:rPr>
              <a:t> Collection</a:t>
            </a:r>
            <a:endParaRPr lang="en-US" altLang="en-US" dirty="0">
              <a:latin typeface="Times New Roman" panose="02020603050405020304" pitchFamily="18" charset="0"/>
              <a:cs typeface="Times New Roman" panose="02020603050405020304" pitchFamily="18" charset="0"/>
            </a:endParaRPr>
          </a:p>
          <a:p>
            <a:pPr marL="25400" lvl="0" indent="0">
              <a:buSzPts val="2400"/>
              <a:buNone/>
            </a:pPr>
            <a:r>
              <a:rPr lang="en-IN" dirty="0">
                <a:latin typeface="Times New Roman" panose="02020603050405020304" pitchFamily="18" charset="0"/>
                <a:cs typeface="Times New Roman" panose="02020603050405020304" pitchFamily="18" charset="0"/>
                <a:sym typeface="+mn-ea"/>
              </a:rPr>
              <a:t>✓ Data</a:t>
            </a:r>
            <a:r>
              <a:rPr lang="en-US" altLang="en-IN" dirty="0">
                <a:latin typeface="Times New Roman" panose="02020603050405020304" pitchFamily="18" charset="0"/>
                <a:cs typeface="Times New Roman" panose="02020603050405020304" pitchFamily="18" charset="0"/>
                <a:sym typeface="+mn-ea"/>
              </a:rPr>
              <a:t>set Description</a:t>
            </a:r>
            <a:endParaRPr lang="en-US" altLang="en-US" dirty="0">
              <a:latin typeface="Times New Roman" panose="02020603050405020304" pitchFamily="18" charset="0"/>
              <a:cs typeface="Times New Roman" panose="02020603050405020304" pitchFamily="18" charset="0"/>
            </a:endParaRPr>
          </a:p>
          <a:p>
            <a:pPr marL="25400" lvl="0" indent="0">
              <a:buSzPts val="2400"/>
              <a:buNone/>
            </a:pPr>
            <a:r>
              <a:rPr lang="en-IN" dirty="0">
                <a:latin typeface="Times New Roman" panose="02020603050405020304" pitchFamily="18" charset="0"/>
                <a:cs typeface="Times New Roman" panose="02020603050405020304" pitchFamily="18" charset="0"/>
                <a:sym typeface="+mn-ea"/>
              </a:rPr>
              <a:t>✓ Data </a:t>
            </a:r>
            <a:r>
              <a:rPr lang="en-US" altLang="en-US" dirty="0">
                <a:latin typeface="Times New Roman" panose="02020603050405020304" pitchFamily="18" charset="0"/>
                <a:cs typeface="Times New Roman" panose="02020603050405020304" pitchFamily="18" charset="0"/>
                <a:sym typeface="+mn-ea"/>
              </a:rPr>
              <a:t>Cleaning</a:t>
            </a:r>
            <a:endParaRPr lang="en-US" altLang="en-US" dirty="0">
              <a:latin typeface="Times New Roman" panose="02020603050405020304" pitchFamily="18" charset="0"/>
              <a:cs typeface="Times New Roman" panose="02020603050405020304" pitchFamily="18" charset="0"/>
              <a:sym typeface="+mn-ea"/>
            </a:endParaRPr>
          </a:p>
          <a:p>
            <a:pPr marL="25400" lvl="0" indent="0">
              <a:buSzPts val="2400"/>
              <a:buNone/>
            </a:pPr>
            <a:r>
              <a:rPr lang="en-IN"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Data Analysis and Visualization</a:t>
            </a:r>
            <a:endParaRPr lang="en-US" altLang="en-US" dirty="0">
              <a:latin typeface="Times New Roman" panose="02020603050405020304" pitchFamily="18" charset="0"/>
              <a:cs typeface="Times New Roman" panose="02020603050405020304" pitchFamily="18" charset="0"/>
            </a:endParaRPr>
          </a:p>
          <a:p>
            <a:pPr marL="25400" lvl="0" indent="0">
              <a:buSzPts val="2400"/>
              <a:buNone/>
            </a:pPr>
            <a:r>
              <a:rPr lang="en-IN" dirty="0">
                <a:latin typeface="Times New Roman" panose="02020603050405020304" pitchFamily="18" charset="0"/>
                <a:cs typeface="Times New Roman" panose="02020603050405020304" pitchFamily="18" charset="0"/>
                <a:sym typeface="+mn-ea"/>
              </a:rPr>
              <a:t>✓ Testing</a:t>
            </a:r>
            <a:endParaRPr lang="en-US" altLang="en-US" dirty="0">
              <a:latin typeface="Times New Roman" panose="02020603050405020304" pitchFamily="18" charset="0"/>
              <a:cs typeface="Times New Roman" panose="02020603050405020304" pitchFamily="18" charset="0"/>
            </a:endParaRPr>
          </a:p>
          <a:p>
            <a:pPr marL="25400" lvl="0" indent="0">
              <a:buSzPts val="2400"/>
              <a:buNone/>
            </a:pPr>
            <a:r>
              <a:rPr lang="en-IN" dirty="0">
                <a:latin typeface="Times New Roman" panose="02020603050405020304" pitchFamily="18" charset="0"/>
                <a:cs typeface="Times New Roman" panose="02020603050405020304" pitchFamily="18" charset="0"/>
              </a:rPr>
              <a:t>✓ Future Scope</a:t>
            </a:r>
            <a:endParaRPr lang="en-IN" dirty="0">
              <a:latin typeface="Times New Roman" panose="02020603050405020304" pitchFamily="18" charset="0"/>
              <a:cs typeface="Times New Roman" panose="02020603050405020304" pitchFamily="18" charset="0"/>
            </a:endParaRPr>
          </a:p>
          <a:p>
            <a:pPr marL="25400" lvl="0" indent="0">
              <a:buSzPts val="2400"/>
              <a:buNone/>
            </a:pPr>
            <a:r>
              <a:rPr lang="en-IN" dirty="0">
                <a:latin typeface="Times New Roman" panose="02020603050405020304" pitchFamily="18" charset="0"/>
                <a:cs typeface="Times New Roman" panose="02020603050405020304" pitchFamily="18" charset="0"/>
                <a:sym typeface="+mn-ea"/>
              </a:rPr>
              <a:t>✓</a:t>
            </a:r>
            <a:r>
              <a:rPr lang="en-IN" dirty="0">
                <a:latin typeface="Times New Roman" panose="02020603050405020304" pitchFamily="18" charset="0"/>
                <a:cs typeface="Times New Roman" panose="02020603050405020304" pitchFamily="18" charset="0"/>
                <a:sym typeface="+mn-ea"/>
              </a:rPr>
              <a:t>Conclusion</a:t>
            </a:r>
            <a:endParaRPr lang="en-IN" dirty="0">
              <a:latin typeface="Times New Roman" panose="02020603050405020304" pitchFamily="18" charset="0"/>
              <a:cs typeface="Times New Roman" panose="02020603050405020304" pitchFamily="18" charset="0"/>
            </a:endParaRPr>
          </a:p>
          <a:p>
            <a:pPr marL="25400" indent="0">
              <a:buSzPts val="2400"/>
              <a:buNone/>
            </a:pPr>
            <a:endParaRPr lang="en-IN" dirty="0"/>
          </a:p>
          <a:p>
            <a:pPr marL="25400" lvl="0" indent="0">
              <a:buSzPts val="24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2487" y="518475"/>
            <a:ext cx="6711884" cy="707886"/>
          </a:xfrm>
          <a:prstGeom prst="rect">
            <a:avLst/>
          </a:prstGeom>
          <a:noFill/>
        </p:spPr>
        <p:txBody>
          <a:bodyPr wrap="square" rtlCol="0">
            <a:spAutoFit/>
          </a:bodyPr>
          <a:lstStyle/>
          <a:p>
            <a:r>
              <a:rPr lang="en-IN" sz="4000" b="1" dirty="0">
                <a:solidFill>
                  <a:schemeClr val="accent5"/>
                </a:solidFill>
              </a:rPr>
              <a:t>Business problem :</a:t>
            </a:r>
            <a:endParaRPr lang="en-IN" sz="4000" b="1" dirty="0">
              <a:solidFill>
                <a:schemeClr val="accent5"/>
              </a:solidFill>
            </a:endParaRPr>
          </a:p>
        </p:txBody>
      </p:sp>
      <p:sp>
        <p:nvSpPr>
          <p:cNvPr id="3" name="Text Box 2"/>
          <p:cNvSpPr txBox="1"/>
          <p:nvPr/>
        </p:nvSpPr>
        <p:spPr>
          <a:xfrm>
            <a:off x="452755" y="1399540"/>
            <a:ext cx="11132820" cy="2898140"/>
          </a:xfrm>
          <a:prstGeom prst="rect">
            <a:avLst/>
          </a:prstGeom>
          <a:noFill/>
        </p:spPr>
        <p:txBody>
          <a:bodyPr wrap="square" rtlCol="0">
            <a:noAutofit/>
          </a:bodyPr>
          <a:p>
            <a:pPr algn="just"/>
            <a:r>
              <a:rPr lang="en-US" altLang="en-US" sz="2400">
                <a:latin typeface="Times New Roman" panose="02020603050405020304" pitchFamily="18" charset="0"/>
                <a:cs typeface="Times New Roman" panose="02020603050405020304" pitchFamily="18" charset="0"/>
              </a:rPr>
              <a:t>Television product details such as brands, prices, screen sizes, and discounts are available across multiple listings on the Poorvika website. Manually collecting and comparing this information is time-consuming. Understanding price differences, brand availability, and discount patterns becomes difficult when the information is spread across different product listings.</a:t>
            </a: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1340" y="229163"/>
            <a:ext cx="5624660" cy="645160"/>
          </a:xfrm>
          <a:prstGeom prst="rect">
            <a:avLst/>
          </a:prstGeom>
          <a:noFill/>
        </p:spPr>
        <p:txBody>
          <a:bodyPr wrap="square" rtlCol="0">
            <a:spAutoFit/>
          </a:bodyPr>
          <a:lstStyle/>
          <a:p>
            <a:r>
              <a:rPr lang="en-US" altLang="en-IN" sz="3600" b="1" dirty="0">
                <a:solidFill>
                  <a:schemeClr val="accent5"/>
                </a:solidFill>
              </a:rPr>
              <a:t>Objectives</a:t>
            </a:r>
            <a:r>
              <a:rPr lang="en-IN" sz="3600" b="1" dirty="0">
                <a:solidFill>
                  <a:schemeClr val="accent5"/>
                </a:solidFill>
              </a:rPr>
              <a:t>:</a:t>
            </a:r>
            <a:endParaRPr lang="en-IN" sz="3600" b="1" dirty="0">
              <a:solidFill>
                <a:schemeClr val="accent5"/>
              </a:solidFill>
            </a:endParaRPr>
          </a:p>
        </p:txBody>
      </p:sp>
      <p:sp>
        <p:nvSpPr>
          <p:cNvPr id="3" name="TextBox 2"/>
          <p:cNvSpPr txBox="1"/>
          <p:nvPr/>
        </p:nvSpPr>
        <p:spPr>
          <a:xfrm>
            <a:off x="471170" y="1080770"/>
            <a:ext cx="11227435" cy="4914265"/>
          </a:xfrm>
          <a:prstGeom prst="rect">
            <a:avLst/>
          </a:prstGeom>
          <a:noFill/>
        </p:spPr>
        <p:txBody>
          <a:bodyPr wrap="square" rtlCol="0">
            <a:noAutofit/>
          </a:bodyPr>
          <a:lstStyle/>
          <a:p>
            <a:pPr marL="342900" indent="-342900" algn="just">
              <a:lnSpc>
                <a:spcPct val="80000"/>
              </a:lnSpc>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To collect TV product details from the Poorvika website using web scraping with Selenium.</a:t>
            </a: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indent="-342900" algn="just">
              <a:lnSpc>
                <a:spcPct val="80000"/>
              </a:lnSpc>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indent="-342900" algn="just">
              <a:lnSpc>
                <a:spcPct val="80000"/>
              </a:lnSpc>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To clean and organize the collected data for further analysis.</a:t>
            </a: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indent="-342900" algn="just">
              <a:lnSpc>
                <a:spcPct val="80000"/>
              </a:lnSpc>
              <a:buFont typeface="Arial" panose="020B0604020202020204" pitchFamily="34" charset="0"/>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indent="-342900" algn="just">
              <a:lnSpc>
                <a:spcPct val="80000"/>
              </a:lnSpc>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To analyze TV brands, prices, screen sizes, and discount percentages.</a:t>
            </a:r>
            <a:endParaRPr lang="en-US" altLang="en-US" sz="2000" dirty="0">
              <a:solidFill>
                <a:schemeClr val="tx1"/>
              </a:solidFill>
              <a:latin typeface="Times New Roman" panose="02020603050405020304" pitchFamily="18" charset="0"/>
              <a:cs typeface="Times New Roman" panose="02020603050405020304" pitchFamily="18" charset="0"/>
            </a:endParaRPr>
          </a:p>
          <a:p>
            <a:pPr marL="0" indent="0" algn="just">
              <a:lnSpc>
                <a:spcPct val="80000"/>
              </a:lnSpc>
              <a:buFont typeface="Arial" panose="020B0604020202020204" pitchFamily="34" charset="0"/>
              <a:buNone/>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indent="-342900" algn="just">
              <a:lnSpc>
                <a:spcPct val="80000"/>
              </a:lnSpc>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To visualize the collected data using charts to identify patterns and trends.</a:t>
            </a:r>
            <a:endParaRPr lang="en-US" altLang="en-US" sz="2000" dirty="0">
              <a:solidFill>
                <a:schemeClr val="tx1"/>
              </a:solidFill>
              <a:latin typeface="Times New Roman" panose="02020603050405020304" pitchFamily="18" charset="0"/>
              <a:cs typeface="Times New Roman" panose="02020603050405020304" pitchFamily="18" charset="0"/>
            </a:endParaRPr>
          </a:p>
          <a:p>
            <a:pPr marL="0" indent="0" algn="just">
              <a:lnSpc>
                <a:spcPct val="80000"/>
              </a:lnSpc>
              <a:buFont typeface="Arial" panose="020B0604020202020204" pitchFamily="34" charset="0"/>
              <a:buNone/>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indent="-342900" algn="just">
              <a:lnSpc>
                <a:spcPct val="80000"/>
              </a:lnSpc>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To generate useful insights that help users compare TV products and understand pricing patterns.</a:t>
            </a:r>
            <a:endParaRPr lang="en-US" altLang="en-US" sz="2000" dirty="0">
              <a:solidFill>
                <a:schemeClr val="tx1"/>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12369165" y="3917950"/>
            <a:ext cx="4064000" cy="306705"/>
          </a:xfrm>
          <a:prstGeom prst="rect">
            <a:avLst/>
          </a:prstGeom>
          <a:noFill/>
        </p:spPr>
        <p:txBody>
          <a:bodyPr wrap="square" rtlCol="0">
            <a:spAutoFit/>
          </a:bodyPr>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93065" y="1069975"/>
            <a:ext cx="11031220" cy="2306955"/>
          </a:xfrm>
          <a:prstGeom prst="rect">
            <a:avLst/>
          </a:prstGeom>
          <a:noFill/>
        </p:spPr>
        <p:txBody>
          <a:bodyPr wrap="square" rtlCol="0">
            <a:spAutoFit/>
          </a:bodyPr>
          <a:p>
            <a:pPr algn="just"/>
            <a:r>
              <a:rPr lang="en-US" altLang="en-US" sz="2400">
                <a:latin typeface="Times New Roman" panose="02020603050405020304" pitchFamily="18" charset="0"/>
                <a:cs typeface="Times New Roman" panose="02020603050405020304" pitchFamily="18" charset="0"/>
              </a:rPr>
              <a:t>Television products are available in different brands, price ranges, screen sizes, and discounts on e-commerce platforms.These product details provide useful information for understanding the television market and its pricing trends.</a:t>
            </a:r>
            <a:r>
              <a:rPr lang="en-IN" altLang="en-US" sz="2400">
                <a:latin typeface="Times New Roman" panose="02020603050405020304" pitchFamily="18" charset="0"/>
                <a:cs typeface="Times New Roman" panose="02020603050405020304" pitchFamily="18" charset="0"/>
              </a:rPr>
              <a:t> </a:t>
            </a:r>
            <a:r>
              <a:rPr lang="en-US" altLang="en-US" sz="2400">
                <a:latin typeface="Times New Roman" panose="02020603050405020304" pitchFamily="18" charset="0"/>
                <a:cs typeface="Times New Roman" panose="02020603050405020304" pitchFamily="18" charset="0"/>
              </a:rPr>
              <a:t>This project explores</a:t>
            </a:r>
            <a:r>
              <a:rPr lang="en-IN" altLang="en-US" sz="2400">
                <a:latin typeface="Times New Roman" panose="02020603050405020304" pitchFamily="18" charset="0"/>
                <a:cs typeface="Times New Roman" panose="02020603050405020304" pitchFamily="18" charset="0"/>
              </a:rPr>
              <a:t> the </a:t>
            </a:r>
            <a:r>
              <a:rPr lang="en-US" altLang="en-US" sz="2400">
                <a:latin typeface="Times New Roman" panose="02020603050405020304" pitchFamily="18" charset="0"/>
                <a:cs typeface="Times New Roman" panose="02020603050405020304" pitchFamily="18" charset="0"/>
              </a:rPr>
              <a:t>data from the website using</a:t>
            </a:r>
            <a:r>
              <a:rPr lang="en-IN" altLang="en-US" sz="2400">
                <a:latin typeface="Times New Roman" panose="02020603050405020304" pitchFamily="18" charset="0"/>
                <a:cs typeface="Times New Roman" panose="02020603050405020304" pitchFamily="18" charset="0"/>
              </a:rPr>
              <a:t> webscraping,</a:t>
            </a:r>
            <a:r>
              <a:rPr lang="en-US" altLang="en-US" sz="2400">
                <a:latin typeface="Times New Roman" panose="02020603050405020304" pitchFamily="18" charset="0"/>
                <a:cs typeface="Times New Roman" panose="02020603050405020304" pitchFamily="18" charset="0"/>
              </a:rPr>
              <a:t> </a:t>
            </a:r>
            <a:r>
              <a:rPr lang="en-IN" altLang="en-US" sz="2400">
                <a:latin typeface="Times New Roman" panose="02020603050405020304" pitchFamily="18" charset="0"/>
                <a:cs typeface="Times New Roman" panose="02020603050405020304" pitchFamily="18" charset="0"/>
              </a:rPr>
              <a:t>it </a:t>
            </a:r>
            <a:r>
              <a:rPr lang="en-US" altLang="en-US" sz="2400">
                <a:latin typeface="Times New Roman" panose="02020603050405020304" pitchFamily="18" charset="0"/>
                <a:cs typeface="Times New Roman" panose="02020603050405020304" pitchFamily="18" charset="0"/>
              </a:rPr>
              <a:t>demonstrates how web scraping and data analytics can be combined to transform raw e-commerce data into meaningful information through visualizations and statistical analysis</a:t>
            </a:r>
            <a:r>
              <a:rPr lang="en-IN" altLang="en-US" sz="2400">
                <a:latin typeface="Times New Roman" panose="02020603050405020304" pitchFamily="18" charset="0"/>
                <a:cs typeface="Times New Roman" panose="02020603050405020304" pitchFamily="18" charset="0"/>
              </a:rPr>
              <a:t>.</a:t>
            </a:r>
            <a:endParaRPr lang="en-IN" altLang="en-US" sz="2400">
              <a:latin typeface="Times New Roman" panose="02020603050405020304" pitchFamily="18" charset="0"/>
              <a:cs typeface="Times New Roman" panose="02020603050405020304" pitchFamily="18" charset="0"/>
            </a:endParaRPr>
          </a:p>
        </p:txBody>
      </p:sp>
      <p:sp>
        <p:nvSpPr>
          <p:cNvPr id="4" name="Text Box 3"/>
          <p:cNvSpPr txBox="1"/>
          <p:nvPr/>
        </p:nvSpPr>
        <p:spPr>
          <a:xfrm>
            <a:off x="393065" y="369570"/>
            <a:ext cx="4221480" cy="645160"/>
          </a:xfrm>
          <a:prstGeom prst="rect">
            <a:avLst/>
          </a:prstGeom>
          <a:noFill/>
        </p:spPr>
        <p:txBody>
          <a:bodyPr wrap="square" rtlCol="0">
            <a:spAutoFit/>
          </a:bodyPr>
          <a:p>
            <a:r>
              <a:rPr lang="en-US" altLang="en-IN" sz="3600" dirty="0">
                <a:solidFill>
                  <a:schemeClr val="accent5"/>
                </a:solidFill>
                <a:latin typeface="Times New Roman" panose="02020603050405020304" pitchFamily="18" charset="0"/>
                <a:cs typeface="Times New Roman" panose="02020603050405020304" pitchFamily="18" charset="0"/>
                <a:sym typeface="+mn-ea"/>
              </a:rPr>
              <a:t>Introduction</a:t>
            </a:r>
            <a:endParaRPr lang="en-US" altLang="en-IN" sz="3600" dirty="0">
              <a:solidFill>
                <a:schemeClr val="accent5"/>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506095" y="492760"/>
            <a:ext cx="9253220" cy="668020"/>
          </a:xfrm>
          <a:prstGeom prst="rect">
            <a:avLst/>
          </a:prstGeom>
          <a:noFill/>
        </p:spPr>
        <p:txBody>
          <a:bodyPr wrap="square" rtlCol="0">
            <a:noAutofit/>
          </a:bodyPr>
          <a:p>
            <a:r>
              <a:rPr lang="en-US" altLang="en-IN" sz="2800" b="1" dirty="0">
                <a:solidFill>
                  <a:schemeClr val="accent5"/>
                </a:solidFill>
                <a:sym typeface="+mn-ea"/>
              </a:rPr>
              <a:t>Tools &amp; Technologies Used :</a:t>
            </a:r>
            <a:endParaRPr lang="en-US" sz="2800" b="1">
              <a:latin typeface="Times New Roman" panose="02020603050405020304" pitchFamily="18" charset="0"/>
              <a:cs typeface="Times New Roman" panose="02020603050405020304" pitchFamily="18" charset="0"/>
            </a:endParaRPr>
          </a:p>
          <a:p>
            <a:endParaRPr lang="en-US" sz="2800" b="1">
              <a:latin typeface="Times New Roman" panose="02020603050405020304" pitchFamily="18" charset="0"/>
              <a:cs typeface="Times New Roman" panose="02020603050405020304" pitchFamily="18" charset="0"/>
            </a:endParaRPr>
          </a:p>
        </p:txBody>
      </p:sp>
      <p:sp>
        <p:nvSpPr>
          <p:cNvPr id="5" name="Text Box 4"/>
          <p:cNvSpPr txBox="1"/>
          <p:nvPr/>
        </p:nvSpPr>
        <p:spPr>
          <a:xfrm>
            <a:off x="596265" y="1052830"/>
            <a:ext cx="9872980" cy="4752340"/>
          </a:xfrm>
          <a:prstGeom prst="rect">
            <a:avLst/>
          </a:prstGeom>
          <a:noFill/>
        </p:spPr>
        <p:txBody>
          <a:bodyPr wrap="square" rtlCol="0">
            <a:noAutofit/>
          </a:bodyPr>
          <a:p>
            <a:pPr marL="342900" indent="-342900">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Selenium : Automating browser navigation</a:t>
            </a:r>
            <a:endParaRPr lang="en-US" altLang="en-US" sz="24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BeautifulSoup : Extracting data from HTML</a:t>
            </a:r>
            <a:endParaRPr lang="en-US" altLang="en-US" sz="24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Pandas : Data cleaning and analysis</a:t>
            </a:r>
            <a:endParaRPr lang="en-US" altLang="en-US" sz="24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Matplotlib : Creating charts and graphs</a:t>
            </a:r>
            <a:endParaRPr lang="en-US" altLang="en-US" sz="24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Seaborn : Statistical data visualization</a:t>
            </a: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2600" y="448945"/>
            <a:ext cx="9055100" cy="612140"/>
          </a:xfrm>
          <a:prstGeom prst="rect">
            <a:avLst/>
          </a:prstGeom>
          <a:noFill/>
        </p:spPr>
        <p:txBody>
          <a:bodyPr wrap="square" rtlCol="0">
            <a:noAutofit/>
          </a:bodyPr>
          <a:lstStyle/>
          <a:p>
            <a:r>
              <a:rPr lang="en-US" altLang="en-IN" sz="3200" b="1" dirty="0">
                <a:solidFill>
                  <a:schemeClr val="accent5"/>
                </a:solidFill>
                <a:latin typeface="Times New Roman" panose="02020603050405020304" pitchFamily="18" charset="0"/>
                <a:cs typeface="Times New Roman" panose="02020603050405020304" pitchFamily="18" charset="0"/>
              </a:rPr>
              <a:t>Data Collection</a:t>
            </a:r>
            <a:r>
              <a:rPr lang="en-IN" sz="3200" b="1" dirty="0">
                <a:solidFill>
                  <a:schemeClr val="accent5"/>
                </a:solidFill>
                <a:latin typeface="Times New Roman" panose="02020603050405020304" pitchFamily="18" charset="0"/>
                <a:cs typeface="Times New Roman" panose="02020603050405020304" pitchFamily="18" charset="0"/>
              </a:rPr>
              <a:t>:</a:t>
            </a:r>
            <a:endParaRPr lang="en-IN" sz="3200" b="1" dirty="0">
              <a:solidFill>
                <a:schemeClr val="accent5"/>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82600" y="1061085"/>
            <a:ext cx="11035665" cy="2259965"/>
          </a:xfrm>
          <a:prstGeom prst="rect">
            <a:avLst/>
          </a:prstGeom>
          <a:noFill/>
        </p:spPr>
        <p:txBody>
          <a:bodyPr wrap="square" rtlCol="0">
            <a:noAutofit/>
          </a:bodyPr>
          <a:p>
            <a:pPr algn="just"/>
            <a:r>
              <a:rPr lang="en-US" altLang="en-US" sz="2400">
                <a:latin typeface="Times New Roman" panose="02020603050405020304" pitchFamily="18" charset="0"/>
                <a:cs typeface="Times New Roman" panose="02020603050405020304" pitchFamily="18" charset="0"/>
              </a:rPr>
              <a:t>The television product listings were collected from the Poorvika website (https://www.poorvika.com/televisions/s) across multiple pages. The extraction process captured product names, original prices, discounted prices, discount percentages, brands, screen sizes, and product URLs. The collected records were combined into a single dataset for further analysis.</a:t>
            </a: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748405" y="721360"/>
            <a:ext cx="3568700" cy="250190"/>
          </a:xfrm>
          <a:prstGeom prst="rect">
            <a:avLst/>
          </a:prstGeom>
          <a:noFill/>
        </p:spPr>
        <p:txBody>
          <a:bodyPr wrap="square" rtlCol="0">
            <a:noAutofit/>
          </a:bodyPr>
          <a:p>
            <a:r>
              <a:rPr lang="en-US" sz="2400" b="1">
                <a:gradFill>
                  <a:gsLst>
                    <a:gs pos="50000">
                      <a:schemeClr val="accent1"/>
                    </a:gs>
                    <a:gs pos="0">
                      <a:schemeClr val="accent1">
                        <a:lumMod val="25000"/>
                        <a:lumOff val="75000"/>
                      </a:schemeClr>
                    </a:gs>
                    <a:gs pos="100000">
                      <a:schemeClr val="accent1">
                        <a:lumMod val="85000"/>
                      </a:schemeClr>
                    </a:gs>
                  </a:gsLst>
                  <a:lin ang="5400000" scaled="1"/>
                </a:gradFill>
              </a:rPr>
              <a:t>DataFrame Preview</a:t>
            </a:r>
            <a:endParaRPr lang="en-US" sz="2400" b="1">
              <a:gradFill>
                <a:gsLst>
                  <a:gs pos="50000">
                    <a:schemeClr val="accent1"/>
                  </a:gs>
                  <a:gs pos="0">
                    <a:schemeClr val="accent1">
                      <a:lumMod val="25000"/>
                      <a:lumOff val="75000"/>
                    </a:schemeClr>
                  </a:gs>
                  <a:gs pos="100000">
                    <a:schemeClr val="accent1">
                      <a:lumMod val="85000"/>
                    </a:schemeClr>
                  </a:gs>
                </a:gsLst>
                <a:lin ang="5400000" scaled="1"/>
              </a:gradFill>
            </a:endParaRPr>
          </a:p>
        </p:txBody>
      </p:sp>
      <p:pic>
        <p:nvPicPr>
          <p:cNvPr id="7" name="Picture 6"/>
          <p:cNvPicPr>
            <a:picLocks noChangeAspect="1"/>
          </p:cNvPicPr>
          <p:nvPr/>
        </p:nvPicPr>
        <p:blipFill>
          <a:blip r:embed="rId1"/>
          <a:stretch>
            <a:fillRect/>
          </a:stretch>
        </p:blipFill>
        <p:spPr>
          <a:xfrm>
            <a:off x="495300" y="1573530"/>
            <a:ext cx="11201400" cy="37109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74040" y="508000"/>
            <a:ext cx="4356735" cy="429895"/>
          </a:xfrm>
          <a:prstGeom prst="rect">
            <a:avLst/>
          </a:prstGeom>
          <a:noFill/>
        </p:spPr>
        <p:txBody>
          <a:bodyPr wrap="square" rtlCol="0">
            <a:noAutofit/>
          </a:bodyPr>
          <a:p>
            <a:r>
              <a:rPr lang="en-US" altLang="en-IN" sz="3200" b="1" dirty="0">
                <a:solidFill>
                  <a:schemeClr val="accent5"/>
                </a:solidFill>
                <a:latin typeface="Times New Roman" panose="02020603050405020304" pitchFamily="18" charset="0"/>
                <a:cs typeface="Times New Roman" panose="02020603050405020304" pitchFamily="18" charset="0"/>
                <a:sym typeface="+mn-ea"/>
              </a:rPr>
              <a:t>Dataset Description</a:t>
            </a:r>
            <a:endParaRPr lang="en-US" sz="3200"/>
          </a:p>
        </p:txBody>
      </p:sp>
      <p:pic>
        <p:nvPicPr>
          <p:cNvPr id="4" name="Picture 3"/>
          <p:cNvPicPr>
            <a:picLocks noChangeAspect="1"/>
          </p:cNvPicPr>
          <p:nvPr/>
        </p:nvPicPr>
        <p:blipFill>
          <a:blip r:embed="rId1"/>
          <a:stretch>
            <a:fillRect/>
          </a:stretch>
        </p:blipFill>
        <p:spPr>
          <a:xfrm>
            <a:off x="2268220" y="2864485"/>
            <a:ext cx="6965950" cy="2974975"/>
          </a:xfrm>
          <a:prstGeom prst="rect">
            <a:avLst/>
          </a:prstGeom>
        </p:spPr>
      </p:pic>
      <p:sp>
        <p:nvSpPr>
          <p:cNvPr id="5" name="Text Box 4"/>
          <p:cNvSpPr txBox="1"/>
          <p:nvPr/>
        </p:nvSpPr>
        <p:spPr>
          <a:xfrm>
            <a:off x="675005" y="1149350"/>
            <a:ext cx="10806430" cy="790575"/>
          </a:xfrm>
          <a:prstGeom prst="rect">
            <a:avLst/>
          </a:prstGeom>
          <a:noFill/>
        </p:spPr>
        <p:txBody>
          <a:bodyPr wrap="square" rtlCol="0">
            <a:noAutofit/>
          </a:bodyPr>
          <a:p>
            <a:pPr algn="just"/>
            <a:r>
              <a:rPr lang="en-US" altLang="en-US" sz="2200">
                <a:latin typeface="Times New Roman" panose="02020603050405020304" pitchFamily="18" charset="0"/>
                <a:cs typeface="Times New Roman" panose="02020603050405020304" pitchFamily="18" charset="0"/>
              </a:rPr>
              <a:t>The dataset contains television product information collected from the Poorvika website. It consists of seven attributes covering product names, original prices, discounted prices, discount percentages, brands, screen sizes, and product URLs. These attributes provide the information needed to compare TV models across different brands and price ranges</a:t>
            </a:r>
            <a:r>
              <a:rPr lang="en-US" altLang="en-US" sz="2200"/>
              <a:t>.</a:t>
            </a:r>
            <a:endParaRPr lang="en-US" sz="2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83235" y="485140"/>
            <a:ext cx="5613400" cy="465455"/>
          </a:xfrm>
          <a:prstGeom prst="rect">
            <a:avLst/>
          </a:prstGeom>
          <a:noFill/>
        </p:spPr>
        <p:txBody>
          <a:bodyPr wrap="square" rtlCol="0">
            <a:noAutofit/>
          </a:bodyPr>
          <a:p>
            <a:r>
              <a:rPr lang="en-US" altLang="en-IN" sz="2800" b="1" dirty="0">
                <a:solidFill>
                  <a:schemeClr val="accent5"/>
                </a:solidFill>
                <a:latin typeface="Arial" panose="020B0604020202020204" pitchFamily="34" charset="0"/>
                <a:cs typeface="Arial" panose="020B0604020202020204" pitchFamily="34" charset="0"/>
                <a:sym typeface="+mn-ea"/>
              </a:rPr>
              <a:t>Data Cleaning :</a:t>
            </a:r>
            <a:endParaRPr lang="en-US" sz="2800" b="1">
              <a:latin typeface="Arial" panose="020B0604020202020204" pitchFamily="34" charset="0"/>
              <a:cs typeface="Arial" panose="020B0604020202020204" pitchFamily="34" charset="0"/>
            </a:endParaRPr>
          </a:p>
          <a:p>
            <a:endParaRPr lang="en-US" sz="2800" b="1">
              <a:latin typeface="Arial" panose="020B0604020202020204" pitchFamily="34" charset="0"/>
              <a:cs typeface="Arial" panose="020B0604020202020204" pitchFamily="34" charset="0"/>
            </a:endParaRPr>
          </a:p>
        </p:txBody>
      </p:sp>
      <p:sp>
        <p:nvSpPr>
          <p:cNvPr id="3" name="Text Box 2"/>
          <p:cNvSpPr txBox="1"/>
          <p:nvPr/>
        </p:nvSpPr>
        <p:spPr>
          <a:xfrm>
            <a:off x="596265" y="1228090"/>
            <a:ext cx="11224260" cy="4258310"/>
          </a:xfrm>
          <a:prstGeom prst="rect">
            <a:avLst/>
          </a:prstGeom>
          <a:noFill/>
        </p:spPr>
        <p:txBody>
          <a:bodyPr wrap="square" rtlCol="0">
            <a:noAutofit/>
          </a:bodyPr>
          <a:p>
            <a:pPr marL="342900" indent="-342900" algn="just">
              <a:lnSpc>
                <a:spcPct val="100000"/>
              </a:lnSpc>
              <a:buFont typeface="Arial" panose="020B0604020202020204" pitchFamily="34" charset="0"/>
              <a:buChar char="•"/>
            </a:pPr>
            <a:r>
              <a:rPr lang="en-US" altLang="en-US" sz="2200">
                <a:latin typeface="Times New Roman" panose="02020603050405020304" pitchFamily="18" charset="0"/>
                <a:cs typeface="Times New Roman" panose="02020603050405020304" pitchFamily="18" charset="0"/>
              </a:rPr>
              <a:t>Identified missing values in the dataset and handled them appropriately.</a:t>
            </a:r>
            <a:endParaRPr lang="en-US" altLang="en-US" sz="2200">
              <a:latin typeface="Times New Roman" panose="02020603050405020304" pitchFamily="18" charset="0"/>
              <a:cs typeface="Times New Roman" panose="02020603050405020304" pitchFamily="18" charset="0"/>
            </a:endParaRPr>
          </a:p>
          <a:p>
            <a:pPr marL="0" indent="0" algn="just">
              <a:lnSpc>
                <a:spcPct val="100000"/>
              </a:lnSpc>
              <a:buFont typeface="Arial" panose="020B0604020202020204" pitchFamily="34" charset="0"/>
              <a:buNone/>
            </a:pPr>
            <a:endParaRPr lang="en-US" altLang="en-US" sz="2200">
              <a:latin typeface="Times New Roman" panose="02020603050405020304" pitchFamily="18" charset="0"/>
              <a:cs typeface="Times New Roman" panose="02020603050405020304" pitchFamily="18" charset="0"/>
            </a:endParaRPr>
          </a:p>
          <a:p>
            <a:pPr marL="342900" indent="-342900" algn="just">
              <a:lnSpc>
                <a:spcPct val="100000"/>
              </a:lnSpc>
              <a:buFont typeface="Arial" panose="020B0604020202020204" pitchFamily="34" charset="0"/>
              <a:buChar char="•"/>
            </a:pPr>
            <a:r>
              <a:rPr lang="en-US" altLang="en-US" sz="2200">
                <a:latin typeface="Times New Roman" panose="02020603050405020304" pitchFamily="18" charset="0"/>
                <a:cs typeface="Times New Roman" panose="02020603050405020304" pitchFamily="18" charset="0"/>
              </a:rPr>
              <a:t>Identified and removed duplicate records.</a:t>
            </a:r>
            <a:endParaRPr lang="en-US" altLang="en-US" sz="2200">
              <a:latin typeface="Times New Roman" panose="02020603050405020304" pitchFamily="18" charset="0"/>
              <a:cs typeface="Times New Roman" panose="02020603050405020304" pitchFamily="18" charset="0"/>
            </a:endParaRPr>
          </a:p>
          <a:p>
            <a:pPr marL="342900" indent="-342900" algn="just">
              <a:lnSpc>
                <a:spcPct val="100000"/>
              </a:lnSpc>
              <a:buFont typeface="Arial" panose="020B0604020202020204" pitchFamily="34" charset="0"/>
              <a:buChar char="•"/>
            </a:pPr>
            <a:endParaRPr lang="en-US" altLang="en-US" sz="2200">
              <a:latin typeface="Times New Roman" panose="02020603050405020304" pitchFamily="18" charset="0"/>
              <a:cs typeface="Times New Roman" panose="02020603050405020304" pitchFamily="18" charset="0"/>
            </a:endParaRPr>
          </a:p>
          <a:p>
            <a:pPr marL="342900" indent="-342900" algn="just">
              <a:lnSpc>
                <a:spcPct val="100000"/>
              </a:lnSpc>
              <a:buFont typeface="Arial" panose="020B0604020202020204" pitchFamily="34" charset="0"/>
              <a:buChar char="•"/>
            </a:pPr>
            <a:r>
              <a:rPr lang="en-US" altLang="en-US" sz="2200">
                <a:latin typeface="Times New Roman" panose="02020603050405020304" pitchFamily="18" charset="0"/>
                <a:cs typeface="Times New Roman" panose="02020603050405020304" pitchFamily="18" charset="0"/>
              </a:rPr>
              <a:t>Removed currency symbols (₹) and commas from price values.</a:t>
            </a:r>
            <a:endParaRPr lang="en-US" altLang="en-US" sz="2200">
              <a:latin typeface="Times New Roman" panose="02020603050405020304" pitchFamily="18" charset="0"/>
              <a:cs typeface="Times New Roman" panose="02020603050405020304" pitchFamily="18" charset="0"/>
            </a:endParaRPr>
          </a:p>
          <a:p>
            <a:pPr marL="342900" indent="-342900" algn="just">
              <a:lnSpc>
                <a:spcPct val="100000"/>
              </a:lnSpc>
              <a:buFont typeface="Arial" panose="020B0604020202020204" pitchFamily="34" charset="0"/>
              <a:buChar char="•"/>
            </a:pPr>
            <a:endParaRPr lang="en-US" altLang="en-US" sz="2200">
              <a:latin typeface="Times New Roman" panose="02020603050405020304" pitchFamily="18" charset="0"/>
              <a:cs typeface="Times New Roman" panose="02020603050405020304" pitchFamily="18" charset="0"/>
            </a:endParaRPr>
          </a:p>
          <a:p>
            <a:pPr marL="342900" indent="-342900" algn="just">
              <a:lnSpc>
                <a:spcPct val="100000"/>
              </a:lnSpc>
              <a:buFont typeface="Arial" panose="020B0604020202020204" pitchFamily="34" charset="0"/>
              <a:buChar char="•"/>
            </a:pPr>
            <a:r>
              <a:rPr lang="en-US" altLang="en-US" sz="2200">
                <a:latin typeface="Times New Roman" panose="02020603050405020304" pitchFamily="18" charset="0"/>
                <a:cs typeface="Times New Roman" panose="02020603050405020304" pitchFamily="18" charset="0"/>
              </a:rPr>
              <a:t>Converted original prices, discounted prices, and discount percentages into numeric format.</a:t>
            </a:r>
            <a:endParaRPr lang="en-US" altLang="en-US" sz="2200">
              <a:latin typeface="Times New Roman" panose="02020603050405020304" pitchFamily="18" charset="0"/>
              <a:cs typeface="Times New Roman" panose="02020603050405020304" pitchFamily="18" charset="0"/>
            </a:endParaRPr>
          </a:p>
          <a:p>
            <a:pPr marL="342900" indent="-342900" algn="just">
              <a:lnSpc>
                <a:spcPct val="100000"/>
              </a:lnSpc>
              <a:buFont typeface="Arial" panose="020B0604020202020204" pitchFamily="34" charset="0"/>
              <a:buChar char="•"/>
            </a:pPr>
            <a:endParaRPr lang="en-US" altLang="en-US" sz="2200">
              <a:latin typeface="Times New Roman" panose="02020603050405020304" pitchFamily="18" charset="0"/>
              <a:cs typeface="Times New Roman" panose="02020603050405020304" pitchFamily="18" charset="0"/>
            </a:endParaRPr>
          </a:p>
          <a:p>
            <a:pPr marL="342900" indent="-342900" algn="just">
              <a:lnSpc>
                <a:spcPct val="100000"/>
              </a:lnSpc>
              <a:buFont typeface="Arial" panose="020B0604020202020204" pitchFamily="34" charset="0"/>
              <a:buChar char="•"/>
            </a:pPr>
            <a:r>
              <a:rPr lang="en-US" altLang="en-US" sz="2200">
                <a:latin typeface="Times New Roman" panose="02020603050405020304" pitchFamily="18" charset="0"/>
                <a:cs typeface="Times New Roman" panose="02020603050405020304" pitchFamily="18" charset="0"/>
              </a:rPr>
              <a:t>Organized the cleaned data into a structured DataFrame for further data analysis and visualization.</a:t>
            </a:r>
            <a:endParaRPr lang="en-US" altLang="en-US" sz="220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405130" y="462280"/>
            <a:ext cx="11233785" cy="542290"/>
          </a:xfrm>
          <a:prstGeom prst="rect">
            <a:avLst/>
          </a:prstGeom>
          <a:noFill/>
        </p:spPr>
        <p:txBody>
          <a:bodyPr wrap="square" rtlCol="0">
            <a:noAutofit/>
          </a:bodyPr>
          <a:p>
            <a:r>
              <a:rPr lang="en-US" altLang="en-IN" sz="2400" b="1" dirty="0">
                <a:solidFill>
                  <a:schemeClr val="accent5"/>
                </a:solidFill>
                <a:latin typeface="Arial" panose="020B0604020202020204" pitchFamily="34" charset="0"/>
                <a:cs typeface="Arial" panose="020B0604020202020204" pitchFamily="34" charset="0"/>
                <a:sym typeface="+mn-ea"/>
              </a:rPr>
              <a:t>Data Analysis and Visualization :</a:t>
            </a:r>
            <a:endParaRPr lang="en-US" sz="2400"/>
          </a:p>
        </p:txBody>
      </p:sp>
      <p:sp>
        <p:nvSpPr>
          <p:cNvPr id="6" name="Text Box 5"/>
          <p:cNvSpPr txBox="1"/>
          <p:nvPr/>
        </p:nvSpPr>
        <p:spPr>
          <a:xfrm>
            <a:off x="494030" y="1004570"/>
            <a:ext cx="11144885" cy="1073785"/>
          </a:xfrm>
          <a:prstGeom prst="rect">
            <a:avLst/>
          </a:prstGeom>
          <a:noFill/>
        </p:spPr>
        <p:txBody>
          <a:bodyPr wrap="square" rtlCol="0">
            <a:noAutofit/>
          </a:bodyPr>
          <a:p>
            <a:pPr algn="just"/>
            <a:r>
              <a:rPr lang="en-US" altLang="en-US" sz="2000">
                <a:latin typeface="Times New Roman" panose="02020603050405020304" pitchFamily="18" charset="0"/>
                <a:cs typeface="Times New Roman" panose="02020603050405020304" pitchFamily="18" charset="0"/>
              </a:rPr>
              <a:t>The collected data was analyzed using statistical methods and visualizations to explore TV pricing, brand distribution, discounts, and screen sizes. Different charts were used to identify patterns and relationships in the dataset</a:t>
            </a:r>
            <a:r>
              <a:rPr lang="en-US" altLang="en-US" sz="2200">
                <a:latin typeface="Times New Roman" panose="02020603050405020304" pitchFamily="18" charset="0"/>
                <a:cs typeface="Times New Roman" panose="02020603050405020304" pitchFamily="18" charset="0"/>
              </a:rPr>
              <a:t>.</a:t>
            </a:r>
            <a:endParaRPr lang="en-US" sz="2200">
              <a:latin typeface="Times New Roman" panose="02020603050405020304" pitchFamily="18" charset="0"/>
              <a:cs typeface="Times New Roman" panose="02020603050405020304" pitchFamily="18" charset="0"/>
            </a:endParaRPr>
          </a:p>
        </p:txBody>
      </p:sp>
      <p:sp>
        <p:nvSpPr>
          <p:cNvPr id="7" name="Text Box 6"/>
          <p:cNvSpPr txBox="1"/>
          <p:nvPr/>
        </p:nvSpPr>
        <p:spPr>
          <a:xfrm>
            <a:off x="494030" y="2078355"/>
            <a:ext cx="4211320" cy="440055"/>
          </a:xfrm>
          <a:prstGeom prst="rect">
            <a:avLst/>
          </a:prstGeom>
          <a:noFill/>
        </p:spPr>
        <p:txBody>
          <a:bodyPr wrap="square" rtlCol="0">
            <a:noAutofit/>
          </a:bodyPr>
          <a:p>
            <a:r>
              <a:rPr lang="en-US" sz="1800" b="1"/>
              <a:t>1. Brand Analysis </a:t>
            </a:r>
            <a:endParaRPr lang="en-US" sz="1800" b="1"/>
          </a:p>
        </p:txBody>
      </p:sp>
      <p:pic>
        <p:nvPicPr>
          <p:cNvPr id="9" name="Picture 8"/>
          <p:cNvPicPr>
            <a:picLocks noChangeAspect="1"/>
          </p:cNvPicPr>
          <p:nvPr/>
        </p:nvPicPr>
        <p:blipFill>
          <a:blip r:embed="rId1"/>
          <a:stretch>
            <a:fillRect/>
          </a:stretch>
        </p:blipFill>
        <p:spPr>
          <a:xfrm>
            <a:off x="405130" y="2519045"/>
            <a:ext cx="7069455" cy="4189730"/>
          </a:xfrm>
          <a:prstGeom prst="rect">
            <a:avLst/>
          </a:prstGeom>
        </p:spPr>
      </p:pic>
      <p:sp>
        <p:nvSpPr>
          <p:cNvPr id="11" name="Text Box 10"/>
          <p:cNvSpPr txBox="1"/>
          <p:nvPr/>
        </p:nvSpPr>
        <p:spPr>
          <a:xfrm>
            <a:off x="7744460" y="4152265"/>
            <a:ext cx="4064000" cy="1421765"/>
          </a:xfrm>
          <a:prstGeom prst="rect">
            <a:avLst/>
          </a:prstGeom>
          <a:noFill/>
        </p:spPr>
        <p:txBody>
          <a:bodyPr wrap="square" rtlCol="0">
            <a:noAutofit/>
          </a:bodyPr>
          <a:p>
            <a:pPr algn="just"/>
            <a:r>
              <a:rPr lang="en-US" sz="2000" b="1">
                <a:latin typeface="Times New Roman" panose="02020603050405020304" pitchFamily="18" charset="0"/>
                <a:cs typeface="Times New Roman" panose="02020603050405020304" pitchFamily="18" charset="0"/>
              </a:rPr>
              <a:t>Insights </a:t>
            </a:r>
            <a:r>
              <a:rPr lang="en-US" sz="2000">
                <a:latin typeface="Times New Roman" panose="02020603050405020304" pitchFamily="18" charset="0"/>
                <a:cs typeface="Times New Roman" panose="02020603050405020304" pitchFamily="18" charset="0"/>
              </a:rPr>
              <a:t>: </a:t>
            </a:r>
            <a:r>
              <a:rPr lang="en-US" altLang="en-US" sz="2000">
                <a:latin typeface="Times New Roman" panose="02020603050405020304" pitchFamily="18" charset="0"/>
                <a:cs typeface="Times New Roman" panose="02020603050405020304" pitchFamily="18" charset="0"/>
              </a:rPr>
              <a:t>The brand with the highest number of models </a:t>
            </a:r>
            <a:r>
              <a:rPr lang="en-US" altLang="en-US" sz="2000" b="1">
                <a:latin typeface="Times New Roman" panose="02020603050405020304" pitchFamily="18" charset="0"/>
                <a:cs typeface="Times New Roman" panose="02020603050405020304" pitchFamily="18" charset="0"/>
              </a:rPr>
              <a:t>i.e Samsung</a:t>
            </a:r>
            <a:r>
              <a:rPr lang="en-US" altLang="en-US" sz="2000">
                <a:latin typeface="Times New Roman" panose="02020603050405020304" pitchFamily="18" charset="0"/>
                <a:cs typeface="Times New Roman" panose="02020603050405020304" pitchFamily="18" charset="0"/>
              </a:rPr>
              <a:t>  has the largest product variety in the collected listings.</a:t>
            </a:r>
            <a:endParaRPr lang="en-US" altLang="en-US" sz="2000">
              <a:latin typeface="Times New Roman" panose="02020603050405020304" pitchFamily="18" charset="0"/>
              <a:cs typeface="Times New Roman" panose="02020603050405020304" pitchFamily="18" charset="0"/>
            </a:endParaRPr>
          </a:p>
        </p:txBody>
      </p:sp>
      <p:sp>
        <p:nvSpPr>
          <p:cNvPr id="2" name="Text Box 1"/>
          <p:cNvSpPr txBox="1"/>
          <p:nvPr/>
        </p:nvSpPr>
        <p:spPr>
          <a:xfrm>
            <a:off x="7661275" y="3044825"/>
            <a:ext cx="4064000" cy="645160"/>
          </a:xfrm>
          <a:prstGeom prst="rect">
            <a:avLst/>
          </a:prstGeom>
          <a:noFill/>
        </p:spPr>
        <p:txBody>
          <a:bodyPr wrap="square" rtlCol="0">
            <a:spAutoFit/>
          </a:bodyPr>
          <a:p>
            <a:r>
              <a:rPr lang="en-US" altLang="en-US" sz="1800">
                <a:latin typeface="Times New Roman" panose="02020603050405020304" pitchFamily="18" charset="0"/>
                <a:cs typeface="Times New Roman" panose="02020603050405020304" pitchFamily="18" charset="0"/>
              </a:rPr>
              <a:t>This chart shows the number of television models available from different brands.</a:t>
            </a:r>
            <a:endParaRPr lang="en-US"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82905" y="135890"/>
            <a:ext cx="4108450" cy="584835"/>
          </a:xfrm>
          <a:prstGeom prst="rect">
            <a:avLst/>
          </a:prstGeom>
          <a:noFill/>
        </p:spPr>
        <p:txBody>
          <a:bodyPr wrap="square" rtlCol="0">
            <a:noAutofit/>
          </a:bodyPr>
          <a:p>
            <a:r>
              <a:rPr lang="en-US" sz="2400" b="1">
                <a:latin typeface="Times New Roman" panose="02020603050405020304" pitchFamily="18" charset="0"/>
                <a:cs typeface="Times New Roman" panose="02020603050405020304" pitchFamily="18" charset="0"/>
              </a:rPr>
              <a:t>2. </a:t>
            </a:r>
            <a:r>
              <a:rPr lang="en-US" altLang="en-US" sz="2400" b="1">
                <a:latin typeface="Times New Roman" panose="02020603050405020304" pitchFamily="18" charset="0"/>
                <a:cs typeface="Times New Roman" panose="02020603050405020304" pitchFamily="18" charset="0"/>
              </a:rPr>
              <a:t>Screensize and price</a:t>
            </a:r>
            <a:endParaRPr lang="en-US" altLang="en-US" sz="2400" b="1">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1421765" y="1218565"/>
            <a:ext cx="6758940" cy="4501515"/>
          </a:xfrm>
          <a:prstGeom prst="rect">
            <a:avLst/>
          </a:prstGeom>
        </p:spPr>
      </p:pic>
      <p:sp>
        <p:nvSpPr>
          <p:cNvPr id="5" name="Text Box 4"/>
          <p:cNvSpPr txBox="1"/>
          <p:nvPr/>
        </p:nvSpPr>
        <p:spPr>
          <a:xfrm>
            <a:off x="314960" y="5798185"/>
            <a:ext cx="11392535" cy="408305"/>
          </a:xfrm>
          <a:prstGeom prst="rect">
            <a:avLst/>
          </a:prstGeom>
          <a:noFill/>
        </p:spPr>
        <p:txBody>
          <a:bodyPr wrap="square" rtlCol="0">
            <a:noAutofit/>
          </a:bodyPr>
          <a:p>
            <a:pPr algn="just"/>
            <a:r>
              <a:rPr lang="en-US" sz="2000" b="1">
                <a:latin typeface="Times New Roman" panose="02020603050405020304" pitchFamily="18" charset="0"/>
                <a:cs typeface="Times New Roman" panose="02020603050405020304" pitchFamily="18" charset="0"/>
              </a:rPr>
              <a:t>Insight :</a:t>
            </a:r>
            <a:r>
              <a:rPr lang="en-US" sz="2000">
                <a:latin typeface="Times New Roman" panose="02020603050405020304" pitchFamily="18" charset="0"/>
                <a:cs typeface="Times New Roman" panose="02020603050405020304" pitchFamily="18" charset="0"/>
              </a:rPr>
              <a:t> </a:t>
            </a:r>
            <a:r>
              <a:rPr lang="en-US" altLang="en-US" sz="2000">
                <a:latin typeface="Times New Roman" panose="02020603050405020304" pitchFamily="18" charset="0"/>
                <a:cs typeface="Times New Roman" panose="02020603050405020304" pitchFamily="18" charset="0"/>
              </a:rPr>
              <a:t>In general, larger screen sizes tend to have higher average prices, although the price may vary between sizes.</a:t>
            </a:r>
            <a:endParaRPr lang="en-US" altLang="en-US" sz="2000">
              <a:latin typeface="Times New Roman" panose="02020603050405020304" pitchFamily="18" charset="0"/>
              <a:cs typeface="Times New Roman" panose="02020603050405020304" pitchFamily="18" charset="0"/>
            </a:endParaRPr>
          </a:p>
        </p:txBody>
      </p:sp>
      <p:sp>
        <p:nvSpPr>
          <p:cNvPr id="3" name="Text Box 2"/>
          <p:cNvSpPr txBox="1"/>
          <p:nvPr/>
        </p:nvSpPr>
        <p:spPr>
          <a:xfrm>
            <a:off x="1056005" y="850265"/>
            <a:ext cx="8039735" cy="368300"/>
          </a:xfrm>
          <a:prstGeom prst="rect">
            <a:avLst/>
          </a:prstGeom>
          <a:noFill/>
        </p:spPr>
        <p:txBody>
          <a:bodyPr wrap="square" rtlCol="0">
            <a:spAutoFit/>
          </a:bodyPr>
          <a:p>
            <a:r>
              <a:rPr lang="en-US" altLang="en-US" sz="1800">
                <a:latin typeface="Times New Roman" panose="02020603050405020304" pitchFamily="18" charset="0"/>
                <a:cs typeface="Times New Roman" panose="02020603050405020304" pitchFamily="18" charset="0"/>
              </a:rPr>
              <a:t>This chart shows the relationship between television screen size and price.</a:t>
            </a:r>
            <a:endParaRPr lang="en-US"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a:picLocks noChangeAspect="1"/>
          </p:cNvPicPr>
          <p:nvPr/>
        </p:nvPicPr>
        <p:blipFill>
          <a:blip r:embed="rId1"/>
          <a:stretch>
            <a:fillRect/>
          </a:stretch>
        </p:blipFill>
        <p:spPr>
          <a:xfrm>
            <a:off x="1260475" y="1454785"/>
            <a:ext cx="5303520" cy="3783965"/>
          </a:xfrm>
          <a:prstGeom prst="rect">
            <a:avLst/>
          </a:prstGeom>
        </p:spPr>
      </p:pic>
      <p:sp>
        <p:nvSpPr>
          <p:cNvPr id="4" name="Text Box 3"/>
          <p:cNvSpPr txBox="1"/>
          <p:nvPr/>
        </p:nvSpPr>
        <p:spPr>
          <a:xfrm>
            <a:off x="561975" y="281940"/>
            <a:ext cx="4064000" cy="460375"/>
          </a:xfrm>
          <a:prstGeom prst="rect">
            <a:avLst/>
          </a:prstGeom>
          <a:noFill/>
        </p:spPr>
        <p:txBody>
          <a:bodyPr wrap="square" rtlCol="0">
            <a:spAutoFit/>
          </a:bodyPr>
          <a:p>
            <a:r>
              <a:rPr lang="en-US" altLang="en-US" sz="2400" b="1">
                <a:latin typeface="Times New Roman" panose="02020603050405020304" pitchFamily="18" charset="0"/>
                <a:cs typeface="Times New Roman" panose="02020603050405020304" pitchFamily="18" charset="0"/>
              </a:rPr>
              <a:t>4.Price Outliers</a:t>
            </a:r>
            <a:endParaRPr lang="en-US" altLang="en-US" sz="2400" b="1">
              <a:latin typeface="Times New Roman" panose="02020603050405020304" pitchFamily="18" charset="0"/>
              <a:cs typeface="Times New Roman" panose="02020603050405020304" pitchFamily="18" charset="0"/>
            </a:endParaRPr>
          </a:p>
        </p:txBody>
      </p:sp>
      <p:sp>
        <p:nvSpPr>
          <p:cNvPr id="5" name="Text Box 4"/>
          <p:cNvSpPr txBox="1"/>
          <p:nvPr/>
        </p:nvSpPr>
        <p:spPr>
          <a:xfrm>
            <a:off x="561975" y="5426710"/>
            <a:ext cx="11271885" cy="645160"/>
          </a:xfrm>
          <a:prstGeom prst="rect">
            <a:avLst/>
          </a:prstGeom>
          <a:noFill/>
        </p:spPr>
        <p:txBody>
          <a:bodyPr wrap="square" rtlCol="0">
            <a:spAutoFit/>
          </a:bodyPr>
          <a:p>
            <a:r>
              <a:rPr lang="en-US" sz="1800" b="1">
                <a:latin typeface="Times New Roman" panose="02020603050405020304" pitchFamily="18" charset="0"/>
                <a:cs typeface="Times New Roman" panose="02020603050405020304" pitchFamily="18" charset="0"/>
              </a:rPr>
              <a:t>Insight</a:t>
            </a:r>
            <a:r>
              <a:rPr 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TVs appearing outside the normal price range can be considered unusually expensive or inexpensive compared with most listings.</a:t>
            </a:r>
            <a:endParaRPr lang="en-US" altLang="en-US" sz="1800">
              <a:latin typeface="Times New Roman" panose="02020603050405020304" pitchFamily="18" charset="0"/>
              <a:cs typeface="Times New Roman" panose="02020603050405020304" pitchFamily="18" charset="0"/>
            </a:endParaRPr>
          </a:p>
        </p:txBody>
      </p:sp>
      <p:sp>
        <p:nvSpPr>
          <p:cNvPr id="2" name="Text Box 1"/>
          <p:cNvSpPr txBox="1"/>
          <p:nvPr/>
        </p:nvSpPr>
        <p:spPr>
          <a:xfrm>
            <a:off x="1260475" y="1008380"/>
            <a:ext cx="6462395" cy="337185"/>
          </a:xfrm>
          <a:prstGeom prst="rect">
            <a:avLst/>
          </a:prstGeom>
          <a:noFill/>
        </p:spPr>
        <p:txBody>
          <a:bodyPr wrap="square" rtlCol="0">
            <a:spAutoFit/>
          </a:bodyPr>
          <a:p>
            <a:r>
              <a:rPr lang="en-US" altLang="en-US" sz="1600">
                <a:latin typeface="Times New Roman" panose="02020603050405020304" pitchFamily="18" charset="0"/>
                <a:cs typeface="Times New Roman" panose="02020603050405020304" pitchFamily="18" charset="0"/>
              </a:rPr>
              <a:t>This visualization helps us identify unusually high or low television prices.</a:t>
            </a:r>
            <a:endParaRPr lang="en-US" altLang="en-US"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81635" y="259715"/>
            <a:ext cx="4064000" cy="460375"/>
          </a:xfrm>
          <a:prstGeom prst="rect">
            <a:avLst/>
          </a:prstGeom>
          <a:noFill/>
        </p:spPr>
        <p:txBody>
          <a:bodyPr wrap="square" rtlCol="0">
            <a:spAutoFit/>
          </a:bodyPr>
          <a:p>
            <a:r>
              <a:rPr lang="en-US" altLang="en-US" sz="2400" b="1">
                <a:latin typeface="Times New Roman" panose="02020603050405020304" pitchFamily="18" charset="0"/>
                <a:cs typeface="Times New Roman" panose="02020603050405020304" pitchFamily="18" charset="0"/>
              </a:rPr>
              <a:t>5. </a:t>
            </a:r>
            <a:r>
              <a:rPr lang="en-US" altLang="en-US" sz="2400" b="1">
                <a:latin typeface="Times New Roman" panose="02020603050405020304" pitchFamily="18" charset="0"/>
                <a:cs typeface="Times New Roman" panose="02020603050405020304" pitchFamily="18" charset="0"/>
              </a:rPr>
              <a:t>Price Density</a:t>
            </a:r>
            <a:endParaRPr lang="en-US" sz="2400" b="1">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1345565" y="1471295"/>
            <a:ext cx="6383655" cy="4057015"/>
          </a:xfrm>
          <a:prstGeom prst="rect">
            <a:avLst/>
          </a:prstGeom>
        </p:spPr>
      </p:pic>
      <p:sp>
        <p:nvSpPr>
          <p:cNvPr id="5" name="Text Box 4"/>
          <p:cNvSpPr txBox="1"/>
          <p:nvPr/>
        </p:nvSpPr>
        <p:spPr>
          <a:xfrm>
            <a:off x="381635" y="5664835"/>
            <a:ext cx="10750550" cy="398780"/>
          </a:xfrm>
          <a:prstGeom prst="rect">
            <a:avLst/>
          </a:prstGeom>
          <a:noFill/>
        </p:spPr>
        <p:txBody>
          <a:bodyPr wrap="square" rtlCol="0">
            <a:spAutoFit/>
          </a:bodyPr>
          <a:p>
            <a:r>
              <a:rPr lang="en-US" sz="2000" b="1">
                <a:latin typeface="Times New Roman" panose="02020603050405020304" pitchFamily="18" charset="0"/>
                <a:cs typeface="Times New Roman" panose="02020603050405020304" pitchFamily="18" charset="0"/>
              </a:rPr>
              <a:t>Insight</a:t>
            </a:r>
            <a:r>
              <a:rPr lang="en-US" sz="2000">
                <a:latin typeface="Times New Roman" panose="02020603050405020304" pitchFamily="18" charset="0"/>
                <a:cs typeface="Times New Roman" panose="02020603050405020304" pitchFamily="18" charset="0"/>
              </a:rPr>
              <a:t>: </a:t>
            </a:r>
            <a:r>
              <a:rPr lang="en-US" altLang="en-US" sz="2000">
                <a:latin typeface="Times New Roman" panose="02020603050405020304" pitchFamily="18" charset="0"/>
                <a:cs typeface="Times New Roman" panose="02020603050405020304" pitchFamily="18" charset="0"/>
              </a:rPr>
              <a:t>The highest peak represents the price range where TV listings are most concentrated.</a:t>
            </a:r>
            <a:endParaRPr lang="en-US" altLang="en-US" sz="2000">
              <a:latin typeface="Times New Roman" panose="02020603050405020304" pitchFamily="18" charset="0"/>
              <a:cs typeface="Times New Roman" panose="02020603050405020304" pitchFamily="18" charset="0"/>
            </a:endParaRPr>
          </a:p>
        </p:txBody>
      </p:sp>
      <p:sp>
        <p:nvSpPr>
          <p:cNvPr id="3" name="Text Box 2"/>
          <p:cNvSpPr txBox="1"/>
          <p:nvPr/>
        </p:nvSpPr>
        <p:spPr>
          <a:xfrm>
            <a:off x="1690370" y="997585"/>
            <a:ext cx="7313295" cy="337185"/>
          </a:xfrm>
          <a:prstGeom prst="rect">
            <a:avLst/>
          </a:prstGeom>
          <a:noFill/>
        </p:spPr>
        <p:txBody>
          <a:bodyPr wrap="square" rtlCol="0">
            <a:spAutoFit/>
          </a:bodyPr>
          <a:p>
            <a:r>
              <a:rPr lang="en-US" altLang="en-US" sz="1600">
                <a:latin typeface="Times New Roman" panose="02020603050405020304" pitchFamily="18" charset="0"/>
                <a:cs typeface="Times New Roman" panose="02020603050405020304" pitchFamily="18" charset="0"/>
              </a:rPr>
              <a:t>This chart shows how television prices are distributed across different price ranges.</a:t>
            </a:r>
            <a:endParaRPr lang="en-US" altLang="en-US"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61340" y="271145"/>
            <a:ext cx="4064000" cy="460375"/>
          </a:xfrm>
          <a:prstGeom prst="rect">
            <a:avLst/>
          </a:prstGeom>
          <a:noFill/>
        </p:spPr>
        <p:txBody>
          <a:bodyPr wrap="square" rtlCol="0">
            <a:spAutoFit/>
          </a:bodyPr>
          <a:p>
            <a:r>
              <a:rPr lang="en-US" sz="2400" b="1">
                <a:latin typeface="Times New Roman" panose="02020603050405020304" pitchFamily="18" charset="0"/>
                <a:cs typeface="Times New Roman" panose="02020603050405020304" pitchFamily="18" charset="0"/>
              </a:rPr>
              <a:t>6.Price Distribution</a:t>
            </a:r>
            <a:endParaRPr lang="en-US" sz="2400" b="1">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1489710" y="1553210"/>
            <a:ext cx="5295900" cy="3568065"/>
          </a:xfrm>
          <a:prstGeom prst="rect">
            <a:avLst/>
          </a:prstGeom>
        </p:spPr>
      </p:pic>
      <p:sp>
        <p:nvSpPr>
          <p:cNvPr id="5" name="Text Box 4"/>
          <p:cNvSpPr txBox="1"/>
          <p:nvPr/>
        </p:nvSpPr>
        <p:spPr>
          <a:xfrm>
            <a:off x="561340" y="5247005"/>
            <a:ext cx="10885805" cy="368300"/>
          </a:xfrm>
          <a:prstGeom prst="rect">
            <a:avLst/>
          </a:prstGeom>
          <a:noFill/>
        </p:spPr>
        <p:txBody>
          <a:bodyPr wrap="square" rtlCol="0">
            <a:spAutoFit/>
          </a:bodyPr>
          <a:p>
            <a:r>
              <a:rPr lang="en-US" sz="1800" b="1">
                <a:latin typeface="Times New Roman" panose="02020603050405020304" pitchFamily="18" charset="0"/>
                <a:cs typeface="Times New Roman" panose="02020603050405020304" pitchFamily="18" charset="0"/>
              </a:rPr>
              <a:t>Insight</a:t>
            </a:r>
            <a:r>
              <a:rPr lang="en-US" sz="1800">
                <a:latin typeface="Times New Roman" panose="02020603050405020304" pitchFamily="18" charset="0"/>
                <a:cs typeface="Times New Roman" panose="02020603050405020304" pitchFamily="18" charset="0"/>
              </a:rPr>
              <a:t>:</a:t>
            </a:r>
            <a:r>
              <a:rPr lang="en-US" altLang="en-US" sz="1800">
                <a:latin typeface="Times New Roman" panose="02020603050405020304" pitchFamily="18" charset="0"/>
                <a:cs typeface="Times New Roman" panose="02020603050405020304" pitchFamily="18" charset="0"/>
              </a:rPr>
              <a:t>Most TVs are concentrated in certain price ranges, while relatively fewer TVs are found at very high prices.</a:t>
            </a:r>
            <a:endParaRPr lang="en-US" altLang="en-US" sz="1800">
              <a:latin typeface="Times New Roman" panose="02020603050405020304" pitchFamily="18" charset="0"/>
              <a:cs typeface="Times New Roman" panose="02020603050405020304" pitchFamily="18" charset="0"/>
            </a:endParaRPr>
          </a:p>
        </p:txBody>
      </p:sp>
      <p:sp>
        <p:nvSpPr>
          <p:cNvPr id="3" name="Text Box 2"/>
          <p:cNvSpPr txBox="1"/>
          <p:nvPr/>
        </p:nvSpPr>
        <p:spPr>
          <a:xfrm>
            <a:off x="1882140" y="974090"/>
            <a:ext cx="6692900" cy="337185"/>
          </a:xfrm>
          <a:prstGeom prst="rect">
            <a:avLst/>
          </a:prstGeom>
          <a:noFill/>
        </p:spPr>
        <p:txBody>
          <a:bodyPr wrap="square" rtlCol="0">
            <a:spAutoFit/>
          </a:bodyPr>
          <a:p>
            <a:r>
              <a:rPr lang="en-US" altLang="en-US" sz="1600">
                <a:latin typeface="Times New Roman" panose="02020603050405020304" pitchFamily="18" charset="0"/>
                <a:cs typeface="Times New Roman" panose="02020603050405020304" pitchFamily="18" charset="0"/>
              </a:rPr>
              <a:t>This chart shows the overall distribution of television prices.</a:t>
            </a:r>
            <a:endParaRPr lang="en-US" altLang="en-US"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60045" y="293370"/>
            <a:ext cx="4064000" cy="460375"/>
          </a:xfrm>
          <a:prstGeom prst="rect">
            <a:avLst/>
          </a:prstGeom>
          <a:noFill/>
        </p:spPr>
        <p:txBody>
          <a:bodyPr wrap="square" rtlCol="0">
            <a:spAutoFit/>
          </a:bodyPr>
          <a:p>
            <a:r>
              <a:rPr lang="en-US" sz="2400" b="1">
                <a:latin typeface="Times New Roman" panose="02020603050405020304" pitchFamily="18" charset="0"/>
                <a:cs typeface="Times New Roman" panose="02020603050405020304" pitchFamily="18" charset="0"/>
              </a:rPr>
              <a:t>7.</a:t>
            </a:r>
            <a:r>
              <a:rPr lang="en-US" altLang="en-US" sz="2400" b="1">
                <a:latin typeface="Times New Roman" panose="02020603050405020304" pitchFamily="18" charset="0"/>
                <a:cs typeface="Times New Roman" panose="02020603050405020304" pitchFamily="18" charset="0"/>
              </a:rPr>
              <a:t>Correlation Analysis</a:t>
            </a:r>
            <a:endParaRPr lang="en-US" altLang="en-US" sz="2400" b="1">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2482850" y="1597025"/>
            <a:ext cx="5227320" cy="3872230"/>
          </a:xfrm>
          <a:prstGeom prst="rect">
            <a:avLst/>
          </a:prstGeom>
        </p:spPr>
      </p:pic>
      <p:sp>
        <p:nvSpPr>
          <p:cNvPr id="5" name="Text Box 4"/>
          <p:cNvSpPr txBox="1"/>
          <p:nvPr/>
        </p:nvSpPr>
        <p:spPr>
          <a:xfrm>
            <a:off x="292735" y="5572760"/>
            <a:ext cx="11380470" cy="645160"/>
          </a:xfrm>
          <a:prstGeom prst="rect">
            <a:avLst/>
          </a:prstGeom>
          <a:noFill/>
        </p:spPr>
        <p:txBody>
          <a:bodyPr wrap="square" rtlCol="0">
            <a:spAutoFit/>
          </a:bodyPr>
          <a:p>
            <a:r>
              <a:rPr lang="en-US" sz="1800" b="1">
                <a:latin typeface="Times New Roman" panose="02020603050405020304" pitchFamily="18" charset="0"/>
                <a:cs typeface="Times New Roman" panose="02020603050405020304" pitchFamily="18" charset="0"/>
              </a:rPr>
              <a:t>Insight</a:t>
            </a:r>
            <a:r>
              <a:rPr lang="en-US" sz="1800">
                <a:latin typeface="Times New Roman" panose="02020603050405020304" pitchFamily="18" charset="0"/>
                <a:cs typeface="Times New Roman" panose="02020603050405020304" pitchFamily="18" charset="0"/>
              </a:rPr>
              <a:t>:</a:t>
            </a:r>
            <a:r>
              <a:rPr lang="en-US" altLang="en-US" sz="1800">
                <a:latin typeface="Times New Roman" panose="02020603050405020304" pitchFamily="18" charset="0"/>
                <a:cs typeface="Times New Roman" panose="02020603050405020304" pitchFamily="18" charset="0"/>
              </a:rPr>
              <a:t>Values closer to +1 indicate a strong positive relationship, values closer to -1 indicate a negative relationship, and values near 0 indicate a weak relationship.</a:t>
            </a:r>
            <a:endParaRPr lang="en-US" altLang="en-US" sz="1800">
              <a:latin typeface="Times New Roman" panose="02020603050405020304" pitchFamily="18" charset="0"/>
              <a:cs typeface="Times New Roman" panose="02020603050405020304" pitchFamily="18" charset="0"/>
            </a:endParaRPr>
          </a:p>
        </p:txBody>
      </p:sp>
      <p:sp>
        <p:nvSpPr>
          <p:cNvPr id="3" name="Text Box 2"/>
          <p:cNvSpPr txBox="1"/>
          <p:nvPr/>
        </p:nvSpPr>
        <p:spPr>
          <a:xfrm>
            <a:off x="2155825" y="1061720"/>
            <a:ext cx="7654925" cy="337185"/>
          </a:xfrm>
          <a:prstGeom prst="rect">
            <a:avLst/>
          </a:prstGeom>
          <a:noFill/>
        </p:spPr>
        <p:txBody>
          <a:bodyPr wrap="square" rtlCol="0">
            <a:spAutoFit/>
          </a:bodyPr>
          <a:p>
            <a:r>
              <a:rPr lang="en-US" altLang="en-US" sz="1600">
                <a:latin typeface="Times New Roman" panose="02020603050405020304" pitchFamily="18" charset="0"/>
                <a:cs typeface="Times New Roman" panose="02020603050405020304" pitchFamily="18" charset="0"/>
              </a:rPr>
              <a:t>This chart shows the correlation between numerical variables in the dataset.</a:t>
            </a:r>
            <a:endParaRPr lang="en-US" altLang="en-US"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28320" y="214630"/>
            <a:ext cx="4064000" cy="583565"/>
          </a:xfrm>
          <a:prstGeom prst="rect">
            <a:avLst/>
          </a:prstGeom>
          <a:noFill/>
        </p:spPr>
        <p:txBody>
          <a:bodyPr wrap="square" rtlCol="0">
            <a:spAutoFit/>
          </a:bodyPr>
          <a:p>
            <a:r>
              <a:rPr lang="en-US" altLang="en-US" sz="3200">
                <a:solidFill>
                  <a:schemeClr val="accent5"/>
                </a:solidFill>
                <a:latin typeface="Times New Roman" panose="02020603050405020304" pitchFamily="18" charset="0"/>
                <a:cs typeface="Times New Roman" panose="02020603050405020304" pitchFamily="18" charset="0"/>
              </a:rPr>
              <a:t>Hypothesis Testing</a:t>
            </a:r>
            <a:r>
              <a:rPr lang="en-IN" altLang="en-US" sz="3200">
                <a:solidFill>
                  <a:schemeClr val="accent5"/>
                </a:solidFill>
                <a:latin typeface="Times New Roman" panose="02020603050405020304" pitchFamily="18" charset="0"/>
                <a:cs typeface="Times New Roman" panose="02020603050405020304" pitchFamily="18" charset="0"/>
              </a:rPr>
              <a:t>:</a:t>
            </a:r>
            <a:endParaRPr lang="en-IN" altLang="en-US" sz="3200">
              <a:solidFill>
                <a:schemeClr val="accent5"/>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528320" y="934720"/>
            <a:ext cx="4064000" cy="521970"/>
          </a:xfrm>
          <a:prstGeom prst="rect">
            <a:avLst/>
          </a:prstGeom>
          <a:noFill/>
        </p:spPr>
        <p:txBody>
          <a:bodyPr wrap="square" rtlCol="0">
            <a:spAutoFit/>
          </a:bodyPr>
          <a:p>
            <a:r>
              <a:rPr lang="en-IN" altLang="en-US" sz="2800" b="1">
                <a:solidFill>
                  <a:schemeClr val="tx1"/>
                </a:solidFill>
                <a:latin typeface="Times New Roman" panose="02020603050405020304" pitchFamily="18" charset="0"/>
                <a:cs typeface="Times New Roman" panose="02020603050405020304" pitchFamily="18" charset="0"/>
              </a:rPr>
              <a:t>T-test:</a:t>
            </a:r>
            <a:endParaRPr lang="en-IN" altLang="en-US" sz="2800" b="1">
              <a:solidFill>
                <a:schemeClr val="tx1"/>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528320" y="1593215"/>
            <a:ext cx="11240135" cy="829945"/>
          </a:xfrm>
          <a:prstGeom prst="rect">
            <a:avLst/>
          </a:prstGeom>
          <a:noFill/>
        </p:spPr>
        <p:txBody>
          <a:bodyPr wrap="square" rtlCol="0">
            <a:spAutoFit/>
          </a:bodyPr>
          <a:p>
            <a:r>
              <a:rPr lang="en-US" altLang="en-US" sz="2400">
                <a:latin typeface="Times New Roman" panose="02020603050405020304" pitchFamily="18" charset="0"/>
                <a:cs typeface="Times New Roman" panose="02020603050405020304" pitchFamily="18" charset="0"/>
              </a:rPr>
              <a:t>To determine whether the average discounted price of Samsung TVs differs significantly from ₹10,000</a:t>
            </a:r>
            <a:r>
              <a:rPr lang="en-IN" altLang="en-US" sz="2400">
                <a:latin typeface="Times New Roman" panose="02020603050405020304" pitchFamily="18" charset="0"/>
                <a:cs typeface="Times New Roman" panose="02020603050405020304" pitchFamily="18" charset="0"/>
              </a:rPr>
              <a:t> ?</a:t>
            </a:r>
            <a:endParaRPr lang="en-IN" altLang="en-US" sz="2400">
              <a:latin typeface="Times New Roman" panose="02020603050405020304" pitchFamily="18" charset="0"/>
              <a:cs typeface="Times New Roman" panose="02020603050405020304" pitchFamily="18" charset="0"/>
            </a:endParaRPr>
          </a:p>
        </p:txBody>
      </p:sp>
      <p:sp>
        <p:nvSpPr>
          <p:cNvPr id="5" name="Text Box 4"/>
          <p:cNvSpPr txBox="1"/>
          <p:nvPr/>
        </p:nvSpPr>
        <p:spPr>
          <a:xfrm>
            <a:off x="422275" y="4431665"/>
            <a:ext cx="11346180" cy="1198880"/>
          </a:xfrm>
          <a:prstGeom prst="rect">
            <a:avLst/>
          </a:prstGeom>
          <a:noFill/>
        </p:spPr>
        <p:txBody>
          <a:bodyPr wrap="square" rtlCol="0">
            <a:spAutoFit/>
          </a:bodyPr>
          <a:p>
            <a:r>
              <a:rPr lang="en-US" altLang="en-US" sz="2400">
                <a:latin typeface="Times New Roman" panose="02020603050405020304" pitchFamily="18" charset="0"/>
                <a:cs typeface="Times New Roman" panose="02020603050405020304" pitchFamily="18" charset="0"/>
              </a:rPr>
              <a:t>Since the absolute T-statistic (10.4253) is greater than the T-critical value (1.9798), the null hypothesis is rejected. This indicates that the average discounted price of Samsung TVs is significantly different from ₹10,000 at the 5% significance level.</a:t>
            </a:r>
            <a:endParaRPr lang="en-US" altLang="en-US" sz="240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1"/>
          <a:stretch>
            <a:fillRect/>
          </a:stretch>
        </p:blipFill>
        <p:spPr>
          <a:xfrm>
            <a:off x="3993515" y="3341370"/>
            <a:ext cx="2636520" cy="989965"/>
          </a:xfrm>
          <a:prstGeom prst="rect">
            <a:avLst/>
          </a:prstGeom>
        </p:spPr>
      </p:pic>
      <p:sp>
        <p:nvSpPr>
          <p:cNvPr id="8" name="Text Box 7"/>
          <p:cNvSpPr txBox="1"/>
          <p:nvPr/>
        </p:nvSpPr>
        <p:spPr>
          <a:xfrm>
            <a:off x="528320" y="2595880"/>
            <a:ext cx="10069830" cy="645160"/>
          </a:xfrm>
          <a:prstGeom prst="rect">
            <a:avLst/>
          </a:prstGeom>
          <a:noFill/>
        </p:spPr>
        <p:txBody>
          <a:bodyPr wrap="square" rtlCol="0">
            <a:spAutoFit/>
          </a:bodyPr>
          <a:p>
            <a:r>
              <a:rPr lang="en-US" altLang="en-US" sz="1800">
                <a:latin typeface="Times New Roman" panose="02020603050405020304" pitchFamily="18" charset="0"/>
                <a:cs typeface="Times New Roman" panose="02020603050405020304" pitchFamily="18" charset="0"/>
              </a:rPr>
              <a:t>H₀ (Null Hypothesis): The average discount price of Samsung TVs is equal to ₹10,000.</a:t>
            </a:r>
            <a:endParaRPr lang="en-US" altLang="en-US" sz="1800">
              <a:latin typeface="Times New Roman" panose="02020603050405020304" pitchFamily="18" charset="0"/>
              <a:cs typeface="Times New Roman" panose="02020603050405020304" pitchFamily="18" charset="0"/>
            </a:endParaRPr>
          </a:p>
          <a:p>
            <a:r>
              <a:rPr lang="en-US" altLang="en-US" sz="1800">
                <a:latin typeface="Times New Roman" panose="02020603050405020304" pitchFamily="18" charset="0"/>
                <a:cs typeface="Times New Roman" panose="02020603050405020304" pitchFamily="18" charset="0"/>
              </a:rPr>
              <a:t>H₁ (Alternative Hypothesis): The average discount price of Samsung TVs is different from ₹10,000.</a:t>
            </a:r>
            <a:endParaRPr lang="en-US"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57505" y="383540"/>
            <a:ext cx="4064000" cy="521970"/>
          </a:xfrm>
          <a:prstGeom prst="rect">
            <a:avLst/>
          </a:prstGeom>
          <a:noFill/>
        </p:spPr>
        <p:txBody>
          <a:bodyPr wrap="square" rtlCol="0">
            <a:spAutoFit/>
          </a:bodyPr>
          <a:p>
            <a:r>
              <a:rPr lang="en-IN" altLang="en-US" sz="2800">
                <a:solidFill>
                  <a:schemeClr val="accent5"/>
                </a:solidFill>
                <a:latin typeface="Times New Roman" panose="02020603050405020304" pitchFamily="18" charset="0"/>
                <a:cs typeface="Times New Roman" panose="02020603050405020304" pitchFamily="18" charset="0"/>
              </a:rPr>
              <a:t>Future Scope:</a:t>
            </a:r>
            <a:endParaRPr lang="en-IN" altLang="en-US" sz="2800">
              <a:solidFill>
                <a:schemeClr val="accent5"/>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88290" y="1183005"/>
            <a:ext cx="11383645" cy="4869815"/>
          </a:xfrm>
          <a:prstGeom prst="rect">
            <a:avLst/>
          </a:prstGeom>
          <a:noFill/>
        </p:spPr>
        <p:txBody>
          <a:bodyPr wrap="square" rtlCol="0">
            <a:noAutofit/>
          </a:bodyPr>
          <a:p>
            <a:pPr marL="342900" indent="-342900" algn="just">
              <a:lnSpc>
                <a:spcPct val="100000"/>
              </a:lnSpc>
              <a:buFont typeface="Arial" panose="020B0604020202020204" pitchFamily="34" charset="0"/>
              <a:buChar char="•"/>
            </a:pPr>
            <a:r>
              <a:rPr lang="en-US" altLang="en-US" sz="1800" b="1">
                <a:latin typeface="Times New Roman" panose="02020603050405020304" pitchFamily="18" charset="0"/>
                <a:cs typeface="Times New Roman" panose="02020603050405020304" pitchFamily="18" charset="0"/>
              </a:rPr>
              <a:t>Power BI Dashboard: </a:t>
            </a:r>
            <a:r>
              <a:rPr lang="en-US" altLang="en-US" sz="1800">
                <a:latin typeface="Times New Roman" panose="02020603050405020304" pitchFamily="18" charset="0"/>
                <a:cs typeface="Times New Roman" panose="02020603050405020304" pitchFamily="18" charset="0"/>
              </a:rPr>
              <a:t>Create interactive dashboards to analyze TV brands, prices, discounts, and screen sizes.</a:t>
            </a:r>
            <a:endParaRPr lang="en-US" altLang="en-US" sz="1800">
              <a:latin typeface="Times New Roman" panose="02020603050405020304" pitchFamily="18" charset="0"/>
              <a:cs typeface="Times New Roman" panose="02020603050405020304" pitchFamily="18" charset="0"/>
            </a:endParaRPr>
          </a:p>
          <a:p>
            <a:pPr marL="342900" indent="-342900" algn="just">
              <a:lnSpc>
                <a:spcPct val="100000"/>
              </a:lnSpc>
              <a:buFont typeface="Arial" panose="020B0604020202020204" pitchFamily="34" charset="0"/>
              <a:buChar char="•"/>
            </a:pPr>
            <a:endParaRPr lang="en-US" altLang="en-US" sz="1800">
              <a:latin typeface="Times New Roman" panose="02020603050405020304" pitchFamily="18" charset="0"/>
              <a:cs typeface="Times New Roman" panose="02020603050405020304" pitchFamily="18" charset="0"/>
            </a:endParaRPr>
          </a:p>
          <a:p>
            <a:pPr marL="342900" indent="-342900" algn="just">
              <a:lnSpc>
                <a:spcPct val="100000"/>
              </a:lnSpc>
              <a:buFont typeface="Arial" panose="020B0604020202020204" pitchFamily="34" charset="0"/>
              <a:buChar char="•"/>
            </a:pPr>
            <a:r>
              <a:rPr lang="en-US" altLang="en-US" sz="1800" b="1">
                <a:latin typeface="Times New Roman" panose="02020603050405020304" pitchFamily="18" charset="0"/>
                <a:cs typeface="Times New Roman" panose="02020603050405020304" pitchFamily="18" charset="0"/>
              </a:rPr>
              <a:t>Automated Price Tracking:</a:t>
            </a:r>
            <a:r>
              <a:rPr lang="en-US" altLang="en-US" sz="1800">
                <a:latin typeface="Times New Roman" panose="02020603050405020304" pitchFamily="18" charset="0"/>
                <a:cs typeface="Times New Roman" panose="02020603050405020304" pitchFamily="18" charset="0"/>
              </a:rPr>
              <a:t> Use Python and Selenium to track TV prices and monitor changes over time.</a:t>
            </a:r>
            <a:endParaRPr lang="en-US" altLang="en-US" sz="1800">
              <a:latin typeface="Times New Roman" panose="02020603050405020304" pitchFamily="18" charset="0"/>
              <a:cs typeface="Times New Roman" panose="02020603050405020304" pitchFamily="18" charset="0"/>
            </a:endParaRPr>
          </a:p>
          <a:p>
            <a:pPr marL="342900" indent="-342900" algn="just">
              <a:lnSpc>
                <a:spcPct val="100000"/>
              </a:lnSpc>
              <a:buFont typeface="Arial" panose="020B0604020202020204" pitchFamily="34" charset="0"/>
              <a:buChar char="•"/>
            </a:pPr>
            <a:endParaRPr lang="en-US" altLang="en-US" sz="1800">
              <a:latin typeface="Times New Roman" panose="02020603050405020304" pitchFamily="18" charset="0"/>
              <a:cs typeface="Times New Roman" panose="02020603050405020304" pitchFamily="18" charset="0"/>
            </a:endParaRPr>
          </a:p>
          <a:p>
            <a:pPr marL="342900" indent="-342900" algn="just">
              <a:lnSpc>
                <a:spcPct val="100000"/>
              </a:lnSpc>
              <a:buFont typeface="Arial" panose="020B0604020202020204" pitchFamily="34" charset="0"/>
              <a:buChar char="•"/>
            </a:pPr>
            <a:r>
              <a:rPr lang="en-US" altLang="en-US" sz="1800" b="1">
                <a:latin typeface="Times New Roman" panose="02020603050405020304" pitchFamily="18" charset="0"/>
                <a:cs typeface="Times New Roman" panose="02020603050405020304" pitchFamily="18" charset="0"/>
              </a:rPr>
              <a:t>SQL Database Integration: </a:t>
            </a:r>
            <a:r>
              <a:rPr lang="en-US" altLang="en-US" sz="1800">
                <a:latin typeface="Times New Roman" panose="02020603050405020304" pitchFamily="18" charset="0"/>
                <a:cs typeface="Times New Roman" panose="02020603050405020304" pitchFamily="18" charset="0"/>
              </a:rPr>
              <a:t>Store scraped TV data in MySQL to analyze pricing trends and compare brands.</a:t>
            </a:r>
            <a:endParaRPr lang="en-US" altLang="en-US" sz="1800">
              <a:latin typeface="Times New Roman" panose="02020603050405020304" pitchFamily="18" charset="0"/>
              <a:cs typeface="Times New Roman" panose="02020603050405020304" pitchFamily="18" charset="0"/>
            </a:endParaRPr>
          </a:p>
          <a:p>
            <a:pPr marL="0" indent="0" algn="just">
              <a:lnSpc>
                <a:spcPct val="100000"/>
              </a:lnSpc>
              <a:buFont typeface="Arial" panose="020B0604020202020204" pitchFamily="34" charset="0"/>
              <a:buNone/>
            </a:pPr>
            <a:endParaRPr lang="en-US" altLang="en-US" sz="1800">
              <a:latin typeface="Times New Roman" panose="02020603050405020304" pitchFamily="18" charset="0"/>
              <a:cs typeface="Times New Roman" panose="02020603050405020304" pitchFamily="18" charset="0"/>
            </a:endParaRPr>
          </a:p>
          <a:p>
            <a:pPr marL="342900" indent="-342900" algn="just">
              <a:lnSpc>
                <a:spcPct val="100000"/>
              </a:lnSpc>
              <a:buFont typeface="Arial" panose="020B0604020202020204" pitchFamily="34" charset="0"/>
              <a:buChar char="•"/>
            </a:pPr>
            <a:r>
              <a:rPr lang="en-US" altLang="en-US" sz="1800" b="1">
                <a:latin typeface="Times New Roman" panose="02020603050405020304" pitchFamily="18" charset="0"/>
                <a:cs typeface="Times New Roman" panose="02020603050405020304" pitchFamily="18" charset="0"/>
              </a:rPr>
              <a:t>Machine Learning Price Prediction: </a:t>
            </a:r>
            <a:r>
              <a:rPr lang="en-US" altLang="en-US" sz="1800">
                <a:latin typeface="Times New Roman" panose="02020603050405020304" pitchFamily="18" charset="0"/>
                <a:cs typeface="Times New Roman" panose="02020603050405020304" pitchFamily="18" charset="0"/>
              </a:rPr>
              <a:t>Explore price prediction models to estimate TV prices based on brand, screen size, and other available features.</a:t>
            </a:r>
            <a:endParaRPr lang="en-US" altLang="en-US" sz="1800">
              <a:latin typeface="Times New Roman" panose="02020603050405020304" pitchFamily="18" charset="0"/>
              <a:cs typeface="Times New Roman" panose="02020603050405020304" pitchFamily="18" charset="0"/>
            </a:endParaRPr>
          </a:p>
          <a:p>
            <a:pPr marL="342900" indent="-342900" algn="just">
              <a:lnSpc>
                <a:spcPct val="100000"/>
              </a:lnSpc>
              <a:buFont typeface="Arial" panose="020B0604020202020204" pitchFamily="34" charset="0"/>
              <a:buChar char="•"/>
            </a:pPr>
            <a:endParaRPr lang="en-US" altLang="en-US" sz="1800">
              <a:latin typeface="Times New Roman" panose="02020603050405020304" pitchFamily="18" charset="0"/>
              <a:cs typeface="Times New Roman" panose="02020603050405020304" pitchFamily="18" charset="0"/>
            </a:endParaRPr>
          </a:p>
          <a:p>
            <a:pPr marL="342900" indent="-342900" algn="just">
              <a:lnSpc>
                <a:spcPct val="100000"/>
              </a:lnSpc>
              <a:buFont typeface="Arial" panose="020B0604020202020204" pitchFamily="34" charset="0"/>
              <a:buChar char="•"/>
            </a:pPr>
            <a:r>
              <a:rPr lang="en-US" altLang="en-US" sz="1800" b="1">
                <a:latin typeface="Times New Roman" panose="02020603050405020304" pitchFamily="18" charset="0"/>
                <a:cs typeface="Times New Roman" panose="02020603050405020304" pitchFamily="18" charset="0"/>
              </a:rPr>
              <a:t>Interactive Web Application:</a:t>
            </a:r>
            <a:r>
              <a:rPr lang="en-US" altLang="en-US" sz="1800">
                <a:latin typeface="Times New Roman" panose="02020603050405020304" pitchFamily="18" charset="0"/>
                <a:cs typeface="Times New Roman" panose="02020603050405020304" pitchFamily="18" charset="0"/>
              </a:rPr>
              <a:t> Use Streamlit to build an application for filtering TVs by brand, price, and screen size</a:t>
            </a:r>
            <a:r>
              <a:rPr lang="en-IN" altLang="en-US" sz="1800">
                <a:latin typeface="Times New Roman" panose="02020603050405020304" pitchFamily="18" charset="0"/>
                <a:cs typeface="Times New Roman" panose="02020603050405020304" pitchFamily="18" charset="0"/>
              </a:rPr>
              <a:t>.</a:t>
            </a:r>
            <a:endParaRPr lang="en-IN"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8475" y="386499"/>
            <a:ext cx="3016578" cy="646331"/>
          </a:xfrm>
          <a:prstGeom prst="rect">
            <a:avLst/>
          </a:prstGeom>
          <a:noFill/>
        </p:spPr>
        <p:txBody>
          <a:bodyPr wrap="square" rtlCol="0">
            <a:spAutoFit/>
          </a:bodyPr>
          <a:lstStyle/>
          <a:p>
            <a:r>
              <a:rPr lang="en-US" sz="3600" b="1" dirty="0">
                <a:solidFill>
                  <a:schemeClr val="accent5"/>
                </a:solidFill>
              </a:rPr>
              <a:t>Conclusion :</a:t>
            </a:r>
            <a:endParaRPr lang="en-US" sz="3600" b="1" dirty="0">
              <a:solidFill>
                <a:schemeClr val="accent5"/>
              </a:solidFill>
            </a:endParaRPr>
          </a:p>
        </p:txBody>
      </p:sp>
      <p:sp>
        <p:nvSpPr>
          <p:cNvPr id="3" name="TextBox 2"/>
          <p:cNvSpPr txBox="1"/>
          <p:nvPr/>
        </p:nvSpPr>
        <p:spPr>
          <a:xfrm>
            <a:off x="631825" y="1232535"/>
            <a:ext cx="11057890" cy="4735830"/>
          </a:xfrm>
          <a:prstGeom prst="rect">
            <a:avLst/>
          </a:prstGeom>
          <a:noFill/>
        </p:spPr>
        <p:txBody>
          <a:bodyPr wrap="square" rtlCol="0">
            <a:noAutofit/>
          </a:bodyPr>
          <a:lstStyle/>
          <a:p>
            <a:pPr marL="285750" indent="-285750" algn="just">
              <a:lnSpc>
                <a:spcPct val="150000"/>
              </a:lnSpc>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This project shows how TV product details from a website can be collected and organized into a structured dataset. Using Python, the data was cleaned, analyzed, and presented through charts to understand TV brands, prices, screen sizes, and discounts.Overall, the project makes TV product information easier to analyze and compare, helping users understand pricing patterns and make better purchasing decisions.</a:t>
            </a:r>
            <a:endParaRPr lang="en-US" alt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96ddf192-a60e-4adf-9c73-1b825ac57e5a"/>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1"/>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panose="02000000000000000000"/>
              <a:buNone/>
            </a:pPr>
            <a:r>
              <a:rPr lang="en-IN" sz="4400" b="0" i="0" u="none" strike="noStrike" cap="none">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THANK YOU</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6583</Words>
  <Application>WPS Presentation</Application>
  <PresentationFormat>Widescreen</PresentationFormat>
  <Paragraphs>152</Paragraphs>
  <Slides>22</Slides>
  <Notes>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22</vt:i4>
      </vt:variant>
    </vt:vector>
  </HeadingPairs>
  <TitlesOfParts>
    <vt:vector size="33" baseType="lpstr">
      <vt:lpstr>Arial</vt:lpstr>
      <vt:lpstr>SimSun</vt:lpstr>
      <vt:lpstr>Wingdings</vt:lpstr>
      <vt:lpstr>Arial</vt:lpstr>
      <vt:lpstr>Calibri</vt:lpstr>
      <vt:lpstr>Times New Roman</vt:lpstr>
      <vt:lpstr>Lato Black</vt:lpstr>
      <vt:lpstr>Microsoft YaHei</vt:lpstr>
      <vt:lpstr>Arial Unicode MS</vt:lpstr>
      <vt:lpstr>Libre Baskerville</vt:lpstr>
      <vt:lpstr>Office Theme</vt:lpstr>
      <vt:lpstr>PowerPoint 演示文稿</vt:lpstr>
      <vt:lpstr>PowerPoint 演示文稿</vt:lpstr>
      <vt:lpstr>  Agenda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Bommi Sadhana</cp:lastModifiedBy>
  <cp:revision>35</cp:revision>
  <dcterms:created xsi:type="dcterms:W3CDTF">2021-02-16T05:19:00Z</dcterms:created>
  <dcterms:modified xsi:type="dcterms:W3CDTF">2026-10-10T09:49:38Z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25A6A06B864943C5A05DC5275EAE7137_13</vt:lpwstr>
  </property>
</Properties>
</file>